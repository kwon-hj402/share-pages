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eececd72f854ad8" /><Relationship Type="http://schemas.openxmlformats.org/officeDocument/2006/relationships/extended-properties" Target="/docProps/app.xml" Id="R6464719d01934df5" /><Relationship Type="http://schemas.openxmlformats.org/officeDocument/2006/relationships/officeDocument" Target="/ppt/presentation.xml" Id="Re1ccf7ecd8344670" /></Relationships>
</file>

<file path=ppt/presentation.xml><?xml version="1.0" encoding="utf-8"?>
<p:presentation xmlns:p="http://schemas.openxmlformats.org/presentationml/2006/main">
  <p:sldMasterIdLst>
    <p:sldMasterId xmlns:r="http://schemas.openxmlformats.org/officeDocument/2006/relationships" id="2147483648" r:id="R32291d96a14a47d3"/>
  </p:sldMasterIdLst>
  <p:notesMasterIdLst>
    <p:notesMasterId xmlns:r="http://schemas.openxmlformats.org/officeDocument/2006/relationships" r:id="R6bff94a8b7454ada"/>
  </p:notesMasterIdLst>
  <p:sldIdLst>
    <p:sldId xmlns:r="http://schemas.openxmlformats.org/officeDocument/2006/relationships" id="256" r:id="Rdbc038e1001f4c4b"/>
    <p:sldId xmlns:r="http://schemas.openxmlformats.org/officeDocument/2006/relationships" id="257" r:id="R83cb5322070c4605"/>
    <p:sldId xmlns:r="http://schemas.openxmlformats.org/officeDocument/2006/relationships" id="258" r:id="Rfe9e7e029c574558"/>
    <p:sldId xmlns:r="http://schemas.openxmlformats.org/officeDocument/2006/relationships" id="259" r:id="Rc4fdbe5ecb704faf"/>
    <p:sldId xmlns:r="http://schemas.openxmlformats.org/officeDocument/2006/relationships" id="260" r:id="R49ff4bcc62ea413a"/>
    <p:sldId xmlns:r="http://schemas.openxmlformats.org/officeDocument/2006/relationships" id="261" r:id="R16215867d09b4a5b"/>
    <p:sldId xmlns:r="http://schemas.openxmlformats.org/officeDocument/2006/relationships" id="262" r:id="R759870c8ce9140e5"/>
    <p:sldId xmlns:r="http://schemas.openxmlformats.org/officeDocument/2006/relationships" id="263" r:id="R32fdfa6bb5ee4bf8"/>
    <p:sldId xmlns:r="http://schemas.openxmlformats.org/officeDocument/2006/relationships" id="264" r:id="Rf493b8a79e6d4f96"/>
    <p:sldId xmlns:r="http://schemas.openxmlformats.org/officeDocument/2006/relationships" id="265" r:id="R7b842cbfe6a54414"/>
    <p:sldId xmlns:r="http://schemas.openxmlformats.org/officeDocument/2006/relationships" id="266" r:id="R7295e5cc30644f1d"/>
    <p:sldId xmlns:r="http://schemas.openxmlformats.org/officeDocument/2006/relationships" id="267" r:id="R5e66e238b35f4582"/>
    <p:sldId xmlns:r="http://schemas.openxmlformats.org/officeDocument/2006/relationships" id="268" r:id="R9310bb37afc84c7e"/>
    <p:sldId xmlns:r="http://schemas.openxmlformats.org/officeDocument/2006/relationships" id="269" r:id="R03690106c6dd430d"/>
    <p:sldId xmlns:r="http://schemas.openxmlformats.org/officeDocument/2006/relationships" id="270" r:id="R9daf30734ffd402f"/>
    <p:sldId xmlns:r="http://schemas.openxmlformats.org/officeDocument/2006/relationships" id="271" r:id="Rfcb38aee4bf143ae"/>
    <p:sldId xmlns:r="http://schemas.openxmlformats.org/officeDocument/2006/relationships" id="272" r:id="Ree8654a6adb5436d"/>
    <p:sldId xmlns:r="http://schemas.openxmlformats.org/officeDocument/2006/relationships" id="273" r:id="R4e25b8c729b74885"/>
    <p:sldId xmlns:r="http://schemas.openxmlformats.org/officeDocument/2006/relationships" id="274" r:id="Rd9acd291d15d4102"/>
    <p:sldId xmlns:r="http://schemas.openxmlformats.org/officeDocument/2006/relationships" id="275" r:id="R9cbdfd30542f4edb"/>
    <p:sldId xmlns:r="http://schemas.openxmlformats.org/officeDocument/2006/relationships" id="276" r:id="Rd4a13cafa91a4efe"/>
    <p:sldId xmlns:r="http://schemas.openxmlformats.org/officeDocument/2006/relationships" id="277" r:id="R5c77c7d54cac46e2"/>
    <p:sldId xmlns:r="http://schemas.openxmlformats.org/officeDocument/2006/relationships" id="278" r:id="R28b05fa6701a45f7"/>
    <p:sldId xmlns:r="http://schemas.openxmlformats.org/officeDocument/2006/relationships" id="279" r:id="R229b01574f9c4b6a"/>
    <p:sldId xmlns:r="http://schemas.openxmlformats.org/officeDocument/2006/relationships" id="280" r:id="R73ec43b8b2c9494e"/>
    <p:sldId xmlns:r="http://schemas.openxmlformats.org/officeDocument/2006/relationships" id="281" r:id="R2e5dd8ecb7124f5e"/>
    <p:sldId xmlns:r="http://schemas.openxmlformats.org/officeDocument/2006/relationships" id="282" r:id="R6c5928f0698242ba"/>
    <p:sldId xmlns:r="http://schemas.openxmlformats.org/officeDocument/2006/relationships" id="283" r:id="R261c417bdb1141e4"/>
    <p:sldId xmlns:r="http://schemas.openxmlformats.org/officeDocument/2006/relationships" id="284" r:id="Rb0595d01cee14b78"/>
    <p:sldId xmlns:r="http://schemas.openxmlformats.org/officeDocument/2006/relationships" id="285" r:id="R32532fe344a54473"/>
    <p:sldId xmlns:r="http://schemas.openxmlformats.org/officeDocument/2006/relationships" id="286" r:id="R97ca2d82a0494293"/>
    <p:sldId xmlns:r="http://schemas.openxmlformats.org/officeDocument/2006/relationships" id="287" r:id="Re23e4fefa9254861"/>
    <p:sldId xmlns:r="http://schemas.openxmlformats.org/officeDocument/2006/relationships" id="288" r:id="R61c654fdaa904f3a"/>
    <p:sldId xmlns:r="http://schemas.openxmlformats.org/officeDocument/2006/relationships" id="289" r:id="Re272830ec7fe4b40"/>
    <p:sldId xmlns:r="http://schemas.openxmlformats.org/officeDocument/2006/relationships" id="290" r:id="R26903995378d4496"/>
    <p:sldId xmlns:r="http://schemas.openxmlformats.org/officeDocument/2006/relationships" id="291" r:id="R5581e2541e3c4e2a"/>
    <p:sldId xmlns:r="http://schemas.openxmlformats.org/officeDocument/2006/relationships" id="292" r:id="R9737cac1d02f492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70fb747f8ff4fd8" /><Relationship Type="http://schemas.openxmlformats.org/officeDocument/2006/relationships/slideMaster" Target="/ppt/slideMasters/slideMaster1.xml" Id="R32291d96a14a47d3" /><Relationship Type="http://schemas.openxmlformats.org/officeDocument/2006/relationships/notesMaster" Target="/ppt/notesMasters/notesMaster1.xml" Id="R6bff94a8b7454ada" /><Relationship Type="http://schemas.openxmlformats.org/officeDocument/2006/relationships/presProps" Target="/ppt/presProps.xml" Id="R96c5e87d00eb467f" /><Relationship Type="http://schemas.openxmlformats.org/officeDocument/2006/relationships/tableStyles" Target="/ppt/tableStyles.xml" Id="R105e90b8ac1a46b3" /><Relationship Type="http://schemas.openxmlformats.org/officeDocument/2006/relationships/slide" Target="/ppt/slides/slide1.xml" Id="Rdbc038e1001f4c4b" /><Relationship Type="http://schemas.openxmlformats.org/officeDocument/2006/relationships/slide" Target="/ppt/slides/slide2.xml" Id="R83cb5322070c4605" /><Relationship Type="http://schemas.openxmlformats.org/officeDocument/2006/relationships/slide" Target="/ppt/slides/slide3.xml" Id="Rfe9e7e029c574558" /><Relationship Type="http://schemas.openxmlformats.org/officeDocument/2006/relationships/slide" Target="/ppt/slides/slide4.xml" Id="Rc4fdbe5ecb704faf" /><Relationship Type="http://schemas.openxmlformats.org/officeDocument/2006/relationships/slide" Target="/ppt/slides/slide5.xml" Id="R49ff4bcc62ea413a" /><Relationship Type="http://schemas.openxmlformats.org/officeDocument/2006/relationships/slide" Target="/ppt/slides/slide6.xml" Id="R16215867d09b4a5b" /><Relationship Type="http://schemas.openxmlformats.org/officeDocument/2006/relationships/slide" Target="/ppt/slides/slide7.xml" Id="R759870c8ce9140e5" /><Relationship Type="http://schemas.openxmlformats.org/officeDocument/2006/relationships/slide" Target="/ppt/slides/slide8.xml" Id="R32fdfa6bb5ee4bf8" /><Relationship Type="http://schemas.openxmlformats.org/officeDocument/2006/relationships/slide" Target="/ppt/slides/slide9.xml" Id="Rf493b8a79e6d4f96" /><Relationship Type="http://schemas.openxmlformats.org/officeDocument/2006/relationships/slide" Target="/ppt/slides/slide10.xml" Id="R7b842cbfe6a54414" /><Relationship Type="http://schemas.openxmlformats.org/officeDocument/2006/relationships/slide" Target="/ppt/slides/slide11.xml" Id="R7295e5cc30644f1d" /><Relationship Type="http://schemas.openxmlformats.org/officeDocument/2006/relationships/slide" Target="/ppt/slides/slide12.xml" Id="R5e66e238b35f4582" /><Relationship Type="http://schemas.openxmlformats.org/officeDocument/2006/relationships/slide" Target="/ppt/slides/slide13.xml" Id="R9310bb37afc84c7e" /><Relationship Type="http://schemas.openxmlformats.org/officeDocument/2006/relationships/slide" Target="/ppt/slides/slide14.xml" Id="R03690106c6dd430d" /><Relationship Type="http://schemas.openxmlformats.org/officeDocument/2006/relationships/slide" Target="/ppt/slides/slide15.xml" Id="R9daf30734ffd402f" /><Relationship Type="http://schemas.openxmlformats.org/officeDocument/2006/relationships/slide" Target="/ppt/slides/slide16.xml" Id="Rfcb38aee4bf143ae" /><Relationship Type="http://schemas.openxmlformats.org/officeDocument/2006/relationships/slide" Target="/ppt/slides/slide17.xml" Id="Ree8654a6adb5436d" /><Relationship Type="http://schemas.openxmlformats.org/officeDocument/2006/relationships/slide" Target="/ppt/slides/slide18.xml" Id="R4e25b8c729b74885" /><Relationship Type="http://schemas.openxmlformats.org/officeDocument/2006/relationships/slide" Target="/ppt/slides/slide19.xml" Id="Rd9acd291d15d4102" /><Relationship Type="http://schemas.openxmlformats.org/officeDocument/2006/relationships/slide" Target="/ppt/slides/slide20.xml" Id="R9cbdfd30542f4edb" /><Relationship Type="http://schemas.openxmlformats.org/officeDocument/2006/relationships/slide" Target="/ppt/slides/slide21.xml" Id="Rd4a13cafa91a4efe" /><Relationship Type="http://schemas.openxmlformats.org/officeDocument/2006/relationships/slide" Target="/ppt/slides/slide22.xml" Id="R5c77c7d54cac46e2" /><Relationship Type="http://schemas.openxmlformats.org/officeDocument/2006/relationships/slide" Target="/ppt/slides/slide23.xml" Id="R28b05fa6701a45f7" /><Relationship Type="http://schemas.openxmlformats.org/officeDocument/2006/relationships/slide" Target="/ppt/slides/slide24.xml" Id="R229b01574f9c4b6a" /><Relationship Type="http://schemas.openxmlformats.org/officeDocument/2006/relationships/slide" Target="/ppt/slides/slide25.xml" Id="R73ec43b8b2c9494e" /><Relationship Type="http://schemas.openxmlformats.org/officeDocument/2006/relationships/slide" Target="/ppt/slides/slide26.xml" Id="R2e5dd8ecb7124f5e" /><Relationship Type="http://schemas.openxmlformats.org/officeDocument/2006/relationships/slide" Target="/ppt/slides/slide27.xml" Id="R6c5928f0698242ba" /><Relationship Type="http://schemas.openxmlformats.org/officeDocument/2006/relationships/slide" Target="/ppt/slides/slide28.xml" Id="R261c417bdb1141e4" /><Relationship Type="http://schemas.openxmlformats.org/officeDocument/2006/relationships/slide" Target="/ppt/slides/slide29.xml" Id="Rb0595d01cee14b78" /><Relationship Type="http://schemas.openxmlformats.org/officeDocument/2006/relationships/slide" Target="/ppt/slides/slide30.xml" Id="R32532fe344a54473" /><Relationship Type="http://schemas.openxmlformats.org/officeDocument/2006/relationships/slide" Target="/ppt/slides/slide31.xml" Id="R97ca2d82a0494293" /><Relationship Type="http://schemas.openxmlformats.org/officeDocument/2006/relationships/slide" Target="/ppt/slides/slide32.xml" Id="Re23e4fefa9254861" /><Relationship Type="http://schemas.openxmlformats.org/officeDocument/2006/relationships/slide" Target="/ppt/slides/slide33.xml" Id="R61c654fdaa904f3a" /><Relationship Type="http://schemas.openxmlformats.org/officeDocument/2006/relationships/slide" Target="/ppt/slides/slide34.xml" Id="Re272830ec7fe4b40" /><Relationship Type="http://schemas.openxmlformats.org/officeDocument/2006/relationships/slide" Target="/ppt/slides/slide35.xml" Id="R26903995378d4496" /><Relationship Type="http://schemas.openxmlformats.org/officeDocument/2006/relationships/slide" Target="/ppt/slides/slide36.xml" Id="R5581e2541e3c4e2a" /><Relationship Type="http://schemas.openxmlformats.org/officeDocument/2006/relationships/slide" Target="/ppt/slides/slide37.xml" Id="R9737cac1d02f492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3c1c6ff3b1f441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0c8e17294cf4b0a" /><Relationship Type="http://schemas.openxmlformats.org/officeDocument/2006/relationships/notesMaster" Target="/ppt/notesMasters/notesMaster1.xml" Id="R9e03b6be0c5f40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f2ea2c5314a043b3" /><Relationship Type="http://schemas.openxmlformats.org/officeDocument/2006/relationships/notesMaster" Target="/ppt/notesMasters/notesMaster1.xml" Id="Rd5a884fbbceb4b77" /></Relationships>
</file>

<file path=ppt/notesSlides/_rels/notesSlide3.xml.rels>&#65279;<?xml version="1.0" encoding="utf-8"?><Relationships xmlns="http://schemas.openxmlformats.org/package/2006/relationships"><Relationship Type="http://schemas.openxmlformats.org/officeDocument/2006/relationships/slide" Target="/ppt/slides/slide3.xml" Id="Rc60dc3cfaf3042e3" /><Relationship Type="http://schemas.openxmlformats.org/officeDocument/2006/relationships/notesMaster" Target="/ppt/notesMasters/notesMaster1.xml" Id="Ra859b59088194bd4" /></Relationships>
</file>

<file path=ppt/notesSlides/_rels/notesSlide4.xml.rels>&#65279;<?xml version="1.0" encoding="utf-8"?><Relationships xmlns="http://schemas.openxmlformats.org/package/2006/relationships"><Relationship Type="http://schemas.openxmlformats.org/officeDocument/2006/relationships/slide" Target="/ppt/slides/slide4.xml" Id="R12e8cb0b07ec4cf3" /><Relationship Type="http://schemas.openxmlformats.org/officeDocument/2006/relationships/notesMaster" Target="/ppt/notesMasters/notesMaster1.xml" Id="R480c532d0c17481c" /></Relationships>
</file>

<file path=ppt/notesSlides/_rels/notesSlide5.xml.rels>&#65279;<?xml version="1.0" encoding="utf-8"?><Relationships xmlns="http://schemas.openxmlformats.org/package/2006/relationships"><Relationship Type="http://schemas.openxmlformats.org/officeDocument/2006/relationships/slide" Target="/ppt/slides/slide5.xml" Id="Re436f461d6934edf" /><Relationship Type="http://schemas.openxmlformats.org/officeDocument/2006/relationships/notesMaster" Target="/ppt/notesMasters/notesMaster1.xml" Id="Rbe9853c0cb3c4d6b" /></Relationships>
</file>

<file path=ppt/notesSlides/_rels/notesSlide6.xml.rels>&#65279;<?xml version="1.0" encoding="utf-8"?><Relationships xmlns="http://schemas.openxmlformats.org/package/2006/relationships"><Relationship Type="http://schemas.openxmlformats.org/officeDocument/2006/relationships/slide" Target="/ppt/slides/slide6.xml" Id="R9a32bdf219aa42b7" /><Relationship Type="http://schemas.openxmlformats.org/officeDocument/2006/relationships/notesMaster" Target="/ppt/notesMasters/notesMaster1.xml" Id="R0cbd6849cbb9422e" /></Relationships>
</file>

<file path=ppt/notesSlides/_rels/notesSlide7.xml.rels>&#65279;<?xml version="1.0" encoding="utf-8"?><Relationships xmlns="http://schemas.openxmlformats.org/package/2006/relationships"><Relationship Type="http://schemas.openxmlformats.org/officeDocument/2006/relationships/slide" Target="/ppt/slides/slide7.xml" Id="R0488f396b9714a7d" /><Relationship Type="http://schemas.openxmlformats.org/officeDocument/2006/relationships/notesMaster" Target="/ppt/notesMasters/notesMaster1.xml" Id="R2d48b18bccfb4d6c" /></Relationships>
</file>

<file path=ppt/notesSlides/_rels/notesSlide8.xml.rels>&#65279;<?xml version="1.0" encoding="utf-8"?><Relationships xmlns="http://schemas.openxmlformats.org/package/2006/relationships"><Relationship Type="http://schemas.openxmlformats.org/officeDocument/2006/relationships/slide" Target="/ppt/slides/slide8.xml" Id="R48922c2694fe451b" /><Relationship Type="http://schemas.openxmlformats.org/officeDocument/2006/relationships/notesMaster" Target="/ppt/notesMasters/notesMaster1.xml" Id="R1d19a3dda43d4182"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434c689573486b" /><Relationship Type="http://schemas.openxmlformats.org/officeDocument/2006/relationships/notesMaster" Target="/ppt/notesMasters/notesMaster1.xml" Id="Rbf12c374a2d0414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583fe5fd9fd47b6" /><Relationship Type="http://schemas.openxmlformats.org/officeDocument/2006/relationships/notesMaster" Target="/ppt/notesMasters/notesMaster1.xml" Id="Raea9b128947544f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cd5d8e9a7704aae" /><Relationship Type="http://schemas.openxmlformats.org/officeDocument/2006/relationships/notesMaster" Target="/ppt/notesMasters/notesMaster1.xml" Id="Rf9a83c6d0e7c4bb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08961c7737b4a4e" /><Relationship Type="http://schemas.openxmlformats.org/officeDocument/2006/relationships/notesMaster" Target="/ppt/notesMasters/notesMaster1.xml" Id="Rd284f3f57e384e9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9bc78b612a24a64" /><Relationship Type="http://schemas.openxmlformats.org/officeDocument/2006/relationships/notesMaster" Target="/ppt/notesMasters/notesMaster1.xml" Id="R7ec22f26fed04c6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4618598732e4f75" /><Relationship Type="http://schemas.openxmlformats.org/officeDocument/2006/relationships/notesMaster" Target="/ppt/notesMasters/notesMaster1.xml" Id="R41031127ba354ee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050edfe31ca4517" /><Relationship Type="http://schemas.openxmlformats.org/officeDocument/2006/relationships/notesMaster" Target="/ppt/notesMasters/notesMaster1.xml" Id="R32a399ccb0064c3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3f7b285fabe4599" /><Relationship Type="http://schemas.openxmlformats.org/officeDocument/2006/relationships/notesMaster" Target="/ppt/notesMasters/notesMaster1.xml" Id="Rb4f120cd485d436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39abbbec53346c0" /><Relationship Type="http://schemas.openxmlformats.org/officeDocument/2006/relationships/notesMaster" Target="/ppt/notesMasters/notesMaster1.xml" Id="R7beb26676e2d4cb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1d9a549165040ff" /><Relationship Type="http://schemas.openxmlformats.org/officeDocument/2006/relationships/notesMaster" Target="/ppt/notesMasters/notesMaster1.xml" Id="Rb281907ec813417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5d3d914d27746a9" /><Relationship Type="http://schemas.openxmlformats.org/officeDocument/2006/relationships/notesMaster" Target="/ppt/notesMasters/notesMaster1.xml" Id="Ra9ef06f58ad5495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c153f10003c4866" /><Relationship Type="http://schemas.openxmlformats.org/officeDocument/2006/relationships/notesMaster" Target="/ppt/notesMasters/notesMaster1.xml" Id="Rac031476ec3c4f6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a18598ba845426d" /><Relationship Type="http://schemas.openxmlformats.org/officeDocument/2006/relationships/notesMaster" Target="/ppt/notesMasters/notesMaster1.xml" Id="R9c8b3ae6b40c42c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ad43edae3eb4c37" /><Relationship Type="http://schemas.openxmlformats.org/officeDocument/2006/relationships/notesMaster" Target="/ppt/notesMasters/notesMaster1.xml" Id="R17c50dd1b0cc405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f3571250d464690" /><Relationship Type="http://schemas.openxmlformats.org/officeDocument/2006/relationships/notesMaster" Target="/ppt/notesMasters/notesMaster1.xml" Id="R85a4c8ac287f48b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adfe2a39bb74314" /><Relationship Type="http://schemas.openxmlformats.org/officeDocument/2006/relationships/notesMaster" Target="/ppt/notesMasters/notesMaster1.xml" Id="R9dd2230375ed4a4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76ebf02f07b4116" /><Relationship Type="http://schemas.openxmlformats.org/officeDocument/2006/relationships/notesMaster" Target="/ppt/notesMasters/notesMaster1.xml" Id="R02978b75b69b465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42f6a2f75044c48" /><Relationship Type="http://schemas.openxmlformats.org/officeDocument/2006/relationships/notesMaster" Target="/ppt/notesMasters/notesMaster1.xml" Id="R35fc2a4492b74f9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7af485ce7404d3b" /><Relationship Type="http://schemas.openxmlformats.org/officeDocument/2006/relationships/notesMaster" Target="/ppt/notesMasters/notesMaster1.xml" Id="R8e25936201df487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99420c7ae02491b" /><Relationship Type="http://schemas.openxmlformats.org/officeDocument/2006/relationships/notesMaster" Target="/ppt/notesMasters/notesMaster1.xml" Id="R90fba3ae61c44b3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1c367c832c346d4" /><Relationship Type="http://schemas.openxmlformats.org/officeDocument/2006/relationships/notesMaster" Target="/ppt/notesMasters/notesMaster1.xml" Id="R1dfd674854f1433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21ec0f8063b422e" /><Relationship Type="http://schemas.openxmlformats.org/officeDocument/2006/relationships/notesMaster" Target="/ppt/notesMasters/notesMaster1.xml" Id="R091178137385434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db4381fd4104623" /><Relationship Type="http://schemas.openxmlformats.org/officeDocument/2006/relationships/notesMaster" Target="/ppt/notesMasters/notesMaster1.xml" Id="R01eb0220819542c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1e766305c6e4684" /><Relationship Type="http://schemas.openxmlformats.org/officeDocument/2006/relationships/notesMaster" Target="/ppt/notesMasters/notesMaster1.xml" Id="R7dfa21d3db784df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e7ab704d4b54861" /><Relationship Type="http://schemas.openxmlformats.org/officeDocument/2006/relationships/notesMaster" Target="/ppt/notesMasters/notesMaster1.xml" Id="Rd983fb2f7c6743e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aa49cad47144f04" /><Relationship Type="http://schemas.openxmlformats.org/officeDocument/2006/relationships/notesMaster" Target="/ppt/notesMasters/notesMaster1.xml" Id="R2677d06f04e34d4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bc8d2dbf7be4ac5" /><Relationship Type="http://schemas.openxmlformats.org/officeDocument/2006/relationships/notesMaster" Target="/ppt/notesMasters/notesMaster1.xml" Id="Rdd514bfe76f44d3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c78d54e8d234343" /><Relationship Type="http://schemas.openxmlformats.org/officeDocument/2006/relationships/notesMaster" Target="/ppt/notesMasters/notesMaster1.xml" Id="R0bc3d53ac774408a"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a9d77f0f28941c1" /><Relationship Type="http://schemas.openxmlformats.org/officeDocument/2006/relationships/notesMaster" Target="/ppt/notesMasters/notesMaster1.xml" Id="R7630ec98b11d4a6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Patch to Caption Them All</a:t>
            </a:r>
          </a:p>
          <a:p xmlns:a="http://schemas.openxmlformats.org/drawingml/2006/main">
            <a:r>
              <a:t/>
            </a:r>
          </a:p>
          <a:p xmlns:a="http://schemas.openxmlformats.org/drawingml/2006/main">
            <a:r>
              <a:t>이 페이지는 발표할 논문과 발표자를 소개하는 장이야. 여기서 기술적인 원리까지 설명할 필요는 없어.</a:t>
            </a:r>
          </a:p>
          <a:p xmlns:a="http://schemas.openxmlformats.org/drawingml/2006/main">
            <a:r>
              <a:t/>
            </a:r>
          </a:p>
          <a:p xmlns:a="http://schemas.openxmlformats.org/drawingml/2006/main">
            <a:r>
              <a:t>대신 “왜 갑자기 이 논문을 소개하는지”를 다음 장에서 설명하겠다고 연결하면 돼.</a:t>
            </a:r>
          </a:p>
          <a:p xmlns:a="http://schemas.openxmlformats.org/drawingml/2006/main">
            <a:r>
              <a:t/>
            </a:r>
          </a:p>
          <a:p xmlns:a="http://schemas.openxmlformats.org/drawingml/2006/main">
            <a:r>
              <a:t>“저희는 대체텍스트 품질 판정 대회를 준비하면서, 이미지에서 필요한 정보를 추출하는 방법을 조사하고 있습니다. 그중 선택한 이미지 영역을 설명할 수 있는 Patch-ioner 논문을 소개하겠습니다. 먼저 대회 주제와 이 논문을 선정한 배경부터 말씀드리겠습니다.”</a:t>
            </a:r>
          </a:p>
          <a:p xmlns:a="http://schemas.openxmlformats.org/drawingml/2006/main">
            <a:r>
              <a:t/>
            </a:r>
          </a:p>
          <a:p xmlns:a="http://schemas.openxmlformats.org/drawingml/2006/main">
            <a:r>
              <a:t>출처: Bianchi et al. · CVPR 2026 · pp. 5532–5542</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Competition : 한국어 웹 대체텍스트 품질 판정</a:t>
            </a:r>
          </a:p>
          <a:p xmlns:a="http://schemas.openxmlformats.org/drawingml/2006/main">
            <a:r>
              <a:t/>
            </a:r>
          </a:p>
          <a:p xmlns:a="http://schemas.openxmlformats.org/drawingml/2006/main">
            <a:r>
              <a:t>이 페이지는 우리의 최종 목표가 무엇인지 설명하는 장이야.</a:t>
            </a:r>
          </a:p>
          <a:p xmlns:a="http://schemas.openxmlformats.org/drawingml/2006/main">
            <a:r>
              <a:t/>
            </a:r>
          </a:p>
          <a:p xmlns:a="http://schemas.openxmlformats.org/drawingml/2006/main">
            <a:r>
              <a:t>대회는 사진을 보고 새로운 설명문을 만드는 것에서 끝나는 게 아니야. 이미 붙어 있는 대체텍스트가 적절한지 판단해야 해.</a:t>
            </a:r>
          </a:p>
          <a:p xmlns:a="http://schemas.openxmlformats.org/drawingml/2006/main">
            <a:r>
              <a:t/>
            </a:r>
          </a:p>
          <a:p xmlns:a="http://schemas.openxmlformats.org/drawingml/2006/main">
            <a:r>
              <a:t>예를 들어 행사 사진의 대체텍스트가 그냥 “사진”이면 정보가 부족하겠지. 반대로 이미지가 링크 버튼이라면, 생김새보다 “어디로 이동하는 버튼인지”가 중요할 수도 있어.</a:t>
            </a:r>
          </a:p>
          <a:p xmlns:a="http://schemas.openxmlformats.org/drawingml/2006/main">
            <a:r>
              <a:t/>
            </a:r>
          </a:p>
          <a:p xmlns:a="http://schemas.openxmlformats.org/drawingml/2006/main">
            <a:r>
              <a:t>“대회의 목표는 이미지와 웹 문맥을 함께 활용해서 기존 대체텍스트의 품질을 판정하는 것입니다. 이미지에 어떤 정보가 있는지, 웹에서 어떤 역할을 하는지 확인한 뒤, 기존 설명의 누락이나 불일치 등을 구분해야 합니다.”</a:t>
            </a:r>
          </a:p>
          <a:p xmlns:a="http://schemas.openxmlformats.org/drawingml/2006/main">
            <a:r>
              <a:t/>
            </a:r>
          </a:p>
          <a:p xmlns:a="http://schemas.openxmlformats.org/drawingml/2006/main">
            <a:r>
              <a:t>여기서 강조할 것: Description 추출은 최종 판정을 위한 중간 단계야.</a:t>
            </a:r>
          </a:p>
          <a:p xmlns:a="http://schemas.openxmlformats.org/drawingml/2006/main">
            <a:r>
              <a:t/>
            </a:r>
          </a:p>
          <a:p xmlns:a="http://schemas.openxmlformats.org/drawingml/2006/main">
            <a:r>
              <a:t>출처: AIDA 대회 공식 문제 안내 · KoAltQ README / 라벨링 가이드 v0.2</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Sample data : 장면과 세부 정보의 동시 확인</a:t>
            </a:r>
          </a:p>
          <a:p xmlns:a="http://schemas.openxmlformats.org/drawingml/2006/main">
            <a:r>
              <a:t/>
            </a:r>
          </a:p>
          <a:p xmlns:a="http://schemas.openxmlformats.org/drawingml/2006/main">
            <a:r>
              <a:t>이 페이지는 실제 데이터가 단순한 사물 사진만으로 구성되어 있지 않다는 것을 보여주는 장이야.</a:t>
            </a:r>
          </a:p>
          <a:p xmlns:a="http://schemas.openxmlformats.org/drawingml/2006/main">
            <a:r>
              <a:t/>
            </a:r>
          </a:p>
          <a:p xmlns:a="http://schemas.openxmlformats.org/drawingml/2006/main">
            <a:r>
              <a:t>왼쪽 행사 사진에서는 사람만 보는 게 아니라 건물의 이름, 사람들의 행동, 리본 같은 행사 도구를 함께 확인할 수 있어. 오른쪽 홍보물에는 큰 제목 외에도 점검 기간과 여러 안전수칙이 들어 있어.</a:t>
            </a:r>
          </a:p>
          <a:p xmlns:a="http://schemas.openxmlformats.org/drawingml/2006/main">
            <a:r>
              <a:t/>
            </a:r>
          </a:p>
          <a:p xmlns:a="http://schemas.openxmlformats.org/drawingml/2006/main">
            <a:r>
              <a:t>즉, “행사 사진”, “안전 안내문” 같은 전체 요약만으로는 담긴 정보를 충분히 파악하기 어려운 사례를 보여주는 거야.</a:t>
            </a:r>
          </a:p>
          <a:p xmlns:a="http://schemas.openxmlformats.org/drawingml/2006/main">
            <a:r>
              <a:t/>
            </a:r>
          </a:p>
          <a:p xmlns:a="http://schemas.openxmlformats.org/drawingml/2006/main">
            <a:r>
              <a:t>“실제 샘플을 보면 한 이미지 안에 여러 종류의 정보가 함께 있습니다. 행사 사진에는 장소와 행동 정보가 있고, 홍보물에는 기간과 세부 수칙이 있습니다. 따라서 전체적인 장면과 작은 영역의 정보를 함께 확인할 필요가 있습니다.”</a:t>
            </a:r>
          </a:p>
          <a:p xmlns:a="http://schemas.openxmlformats.org/drawingml/2006/main">
            <a:r>
              <a:t/>
            </a:r>
          </a:p>
          <a:p xmlns:a="http://schemas.openxmlformats.org/drawingml/2006/main">
            <a:r>
              <a:t>주의: 모든 세부 정보를 최종 alt에 다 넣어야 한다고 말하면 안 돼. 우선 판정할 근거를 확보한다는 의미야.</a:t>
            </a:r>
          </a:p>
          <a:p xmlns:a="http://schemas.openxmlformats.org/drawingml/2006/main">
            <a:r>
              <a:t/>
            </a:r>
          </a:p>
          <a:p xmlns:a="http://schemas.openxmlformats.org/drawingml/2006/main">
            <a:r>
              <a:t>출처: KoAltQ sample · r00737652af / r0be9f0f533 · 제공 라벨: 모두 불충분형</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Sample data : 작은 글자와 표의 관계까지</a:t>
            </a:r>
          </a:p>
          <a:p xmlns:a="http://schemas.openxmlformats.org/drawingml/2006/main">
            <a:r>
              <a:t/>
            </a:r>
          </a:p>
          <a:p xmlns:a="http://schemas.openxmlformats.org/drawingml/2006/main">
            <a:r>
              <a:t>이 페이지는 앞 장보다 한 단계 더 들어가서, 글자를 읽는 것뿐 아니라 정보 간 관계도 알아야 한다는 장이야.</a:t>
            </a:r>
          </a:p>
          <a:p xmlns:a="http://schemas.openxmlformats.org/drawingml/2006/main">
            <a:r>
              <a:t/>
            </a:r>
          </a:p>
          <a:p xmlns:a="http://schemas.openxmlformats.org/drawingml/2006/main">
            <a:r>
              <a:t>표에서 날짜 하나, 장소 하나를 각각 읽었더라도 서로 다른 행의 정보를 연결하면 틀린 설명이 돼.</a:t>
            </a:r>
          </a:p>
          <a:p xmlns:a="http://schemas.openxmlformats.org/drawingml/2006/main">
            <a:r>
              <a:t/>
            </a:r>
          </a:p>
          <a:p xmlns:a="http://schemas.openxmlformats.org/drawingml/2006/main">
            <a:r>
              <a:t>예를 들어 “12월 14일 교육 장소”를 확인하려면, 날짜와 장소가 같은 행에 있는지까지 알아야 해.</a:t>
            </a:r>
          </a:p>
          <a:p xmlns:a="http://schemas.openxmlformats.org/drawingml/2006/main">
            <a:r>
              <a:t/>
            </a:r>
          </a:p>
          <a:p xmlns:a="http://schemas.openxmlformats.org/drawingml/2006/main">
            <a:r>
              <a:t>“이 일정표는 제목만 읽어서는 실제 교육 내용을 알기 어렵습니다. 과정, 날짜, 장소, 인원을 읽고 서로 어떻게 연결되는지도 확인해야 합니다. 따라서 이미지 설명뿐 아니라 OCR과 표 구조 이해도 함께 검토하고 있습니다.”</a:t>
            </a:r>
          </a:p>
          <a:p xmlns:a="http://schemas.openxmlformats.org/drawingml/2006/main">
            <a:r>
              <a:t/>
            </a:r>
          </a:p>
          <a:p xmlns:a="http://schemas.openxmlformats.org/drawingml/2006/main">
            <a:r>
              <a:t>다음 장 연결: 이렇게 얻은 정보들을 우리 시스템에서 어떻게 사용할지 보여주면 돼.</a:t>
            </a:r>
          </a:p>
          <a:p xmlns:a="http://schemas.openxmlformats.org/drawingml/2006/main">
            <a:r>
              <a:t/>
            </a:r>
          </a:p>
          <a:p xmlns:a="http://schemas.openxmlformats.org/drawingml/2006/main">
            <a:r>
              <a:t>출처: KoAltQ sample · r28b16068d4 · 기존 alt 원문 / 제공 라벨: 불충분형</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approach : 시각 근거를 모아 품질 판정</a:t>
            </a:r>
          </a:p>
          <a:p xmlns:a="http://schemas.openxmlformats.org/drawingml/2006/main">
            <a:r>
              <a:t/>
            </a:r>
          </a:p>
          <a:p xmlns:a="http://schemas.openxmlformats.org/drawingml/2006/main">
            <a:r>
              <a:t>이 페이지는 우리가 만들려는 전체 시스템 지도야.</a:t>
            </a:r>
          </a:p>
          <a:p xmlns:a="http://schemas.openxmlformats.org/drawingml/2006/main">
            <a:r>
              <a:t/>
            </a:r>
          </a:p>
          <a:p xmlns:a="http://schemas.openxmlformats.org/drawingml/2006/main">
            <a:r>
              <a:t>각 단계의 역할을 나눠서 설명하면 이해하기 쉬워.</a:t>
            </a:r>
          </a:p>
          <a:p xmlns:a="http://schemas.openxmlformats.org/drawingml/2006/main">
            <a:r>
              <a:t/>
            </a:r>
          </a:p>
          <a:p xmlns:a="http://schemas.openxmlformats.org/drawingml/2006/main">
            <a:r>
              <a:t/>
            </a:r>
          </a:p>
          <a:p xmlns:a="http://schemas.openxmlformats.org/drawingml/2006/main">
            <a:r>
              <a:t>이미지 설명·OCR</a:t>
            </a:r>
          </a:p>
          <a:p xmlns:a="http://schemas.openxmlformats.org/drawingml/2006/main">
            <a:r>
              <a:t>    = 사진 안에 무엇이 있는지 정보 확보</a:t>
            </a:r>
          </a:p>
          <a:p xmlns:a="http://schemas.openxmlformats.org/drawingml/2006/main">
            <a:r>
              <a:t/>
            </a:r>
          </a:p>
          <a:p xmlns:a="http://schemas.openxmlformats.org/drawingml/2006/main">
            <a:r>
              <a:t>기존 alt + 메타데이터</a:t>
            </a:r>
          </a:p>
          <a:p xmlns:a="http://schemas.openxmlformats.org/drawingml/2006/main">
            <a:r>
              <a:t>    = 현재 어떤 설명이 붙었고, 어떤 문맥에서 쓰였는지 확인</a:t>
            </a:r>
          </a:p>
          <a:p xmlns:a="http://schemas.openxmlformats.org/drawingml/2006/main">
            <a:r>
              <a:t/>
            </a:r>
          </a:p>
          <a:p xmlns:a="http://schemas.openxmlformats.org/drawingml/2006/main">
            <a:r>
              <a:t>LLM Agent</a:t>
            </a:r>
          </a:p>
          <a:p xmlns:a="http://schemas.openxmlformats.org/drawingml/2006/main">
            <a:r>
              <a:t>    = 두 정보를 비교하고 품질 판단</a:t>
            </a:r>
          </a:p>
          <a:p xmlns:a="http://schemas.openxmlformats.org/drawingml/2006/main">
            <a:r>
              <a:t/>
            </a:r>
          </a:p>
          <a:p xmlns:a="http://schemas.openxmlformats.org/drawingml/2006/main">
            <a:r>
              <a:t/>
            </a:r>
          </a:p>
          <a:p xmlns:a="http://schemas.openxmlformats.org/drawingml/2006/main">
            <a:r>
              <a:t>“먼저 이미지에서 전체 장면과 세부 정보를 추출합니다. 여기에 기존 대체텍스트와 페이지 제목, 인접 문맥 등의 정보를 함께 넣고, Agent가 설명의 적절성을 판단하도록 구성하려고 합니다. 주어진 정보만으로 판단하기 어려운 경우에는 웹 확인을 추가하는 방향도 고려하고 있습니다.”</a:t>
            </a:r>
          </a:p>
          <a:p xmlns:a="http://schemas.openxmlformats.org/drawingml/2006/main">
            <a:r>
              <a:t/>
            </a:r>
          </a:p>
          <a:p xmlns:a="http://schemas.openxmlformats.org/drawingml/2006/main">
            <a:r>
              <a:t>중요: 지금은 제안한 구조야. 이미 정확성과 속도를 검증한 완성 시스템처럼 설명하면 안 돼.</a:t>
            </a:r>
          </a:p>
          <a:p xmlns:a="http://schemas.openxmlformats.org/drawingml/2006/main">
            <a:r>
              <a:t/>
            </a:r>
          </a:p>
          <a:p xmlns:a="http://schemas.openxmlformats.org/drawingml/2006/main">
            <a:r>
              <a:t>출처: 팀 제안 구조 · 구현 및 성능 검증 전</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Implementation plan : 단계별 도입 구성</a:t>
            </a:r>
          </a:p>
          <a:p xmlns:a="http://schemas.openxmlformats.org/drawingml/2006/main">
            <a:r>
              <a:t/>
            </a:r>
          </a:p>
          <a:p xmlns:a="http://schemas.openxmlformats.org/drawingml/2006/main">
            <a:r>
              <a:t>이 페이지는 앞 장의 각 역할을 어떤 도구로 구현할 계획인지 설명하는 장이야.</a:t>
            </a:r>
          </a:p>
          <a:p xmlns:a="http://schemas.openxmlformats.org/drawingml/2006/main">
            <a:r>
              <a:t/>
            </a:r>
          </a:p>
          <a:p xmlns:a="http://schemas.openxmlformats.org/drawingml/2006/main">
            <a:r>
              <a:t>- Gemma 12B-QAT: 정보를 비교하고 판단하는 모델</a:t>
            </a:r>
          </a:p>
          <a:p xmlns:a="http://schemas.openxmlformats.org/drawingml/2006/main">
            <a:r>
              <a:t>- Python Agent: 정보를 모으고 처리 순서와 도구 사용을 관리하는 프로그램</a:t>
            </a:r>
          </a:p>
          <a:p xmlns:a="http://schemas.openxmlformats.org/drawingml/2006/main">
            <a:r>
              <a:t>- Vision pipeline: 이미지 설명과 글자를 추출하는 부분</a:t>
            </a:r>
          </a:p>
          <a:p xmlns:a="http://schemas.openxmlformats.org/drawingml/2006/main">
            <a:r>
              <a:t>- Playwright: 필요한 웹페이지를 열고 확인하는 도구</a:t>
            </a:r>
          </a:p>
          <a:p xmlns:a="http://schemas.openxmlformats.org/drawingml/2006/main">
            <a:r>
              <a:t/>
            </a:r>
          </a:p>
          <a:p xmlns:a="http://schemas.openxmlformats.org/drawingml/2006/main">
            <a:r>
              <a:t>특히 Playwright 자체가 정답을 판단하는 AI는 아니라는 점을 이해하면 돼.</a:t>
            </a:r>
          </a:p>
          <a:p xmlns:a="http://schemas.openxmlformats.org/drawingml/2006/main">
            <a:r>
              <a:t/>
            </a:r>
          </a:p>
          <a:p xmlns:a="http://schemas.openxmlformats.org/drawingml/2006/main">
            <a:r>
              <a:t>“판정 모델은 Gemma 12B-QAT를 후보로 두고, 처리 과정은 Python 기반 Agent로 구현할 계획입니다. 이미지 설명과 OCR 방법을 먼저 검토하고, 이후 필요한 경우 Playwright를 이용한 웹 확인 기능을 추가하려고 합니다.”</a:t>
            </a:r>
          </a:p>
          <a:p xmlns:a="http://schemas.openxmlformats.org/drawingml/2006/main">
            <a:r>
              <a:t/>
            </a:r>
          </a:p>
          <a:p xmlns:a="http://schemas.openxmlformats.org/drawingml/2006/main">
            <a:r>
              <a:t>출처: 팀 구현 계획 · 1차 Agent / 2차 선택적 Browsing</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Paper selection : 영역별 Description 추출</a:t>
            </a:r>
          </a:p>
          <a:p xmlns:a="http://schemas.openxmlformats.org/drawingml/2006/main">
            <a:r>
              <a:t/>
            </a:r>
          </a:p>
          <a:p xmlns:a="http://schemas.openxmlformats.org/drawingml/2006/main">
            <a:r>
              <a:t>이 페이지는 그래서 수많은 논문 중 왜 Patch-ioner를 골랐는지 연결하는 장이야.</a:t>
            </a:r>
          </a:p>
          <a:p xmlns:a="http://schemas.openxmlformats.org/drawingml/2006/main">
            <a:r>
              <a:t/>
            </a:r>
          </a:p>
          <a:p xmlns:a="http://schemas.openxmlformats.org/drawingml/2006/main">
            <a:r>
              <a:t>우리에게 필요한 것은 이미지 안의 정보를 놓치지 않고 파악하는 방법이잖아. 이 논문은 설명할 부분을 지정할 수 있다는 점에서 후보가 되는 거야.</a:t>
            </a:r>
          </a:p>
          <a:p xmlns:a="http://schemas.openxmlformats.org/drawingml/2006/main">
            <a:r>
              <a:t/>
            </a:r>
          </a:p>
          <a:p xmlns:a="http://schemas.openxmlformats.org/drawingml/2006/main">
            <a:r>
              <a:t>“전체 이미지를 한 번 요약하면 작은 요소가 빠질 수 있습니다. Patch-ioner는 원하는 영역을 지정해서 설명할 수 있으므로, 전체 설명을 보완하는 방법으로 검토하게 되었습니다. 이번 리뷰에서는 이 방식의 원리와 정확성, 한계를 확인하고자 합니다.”</a:t>
            </a:r>
          </a:p>
          <a:p xmlns:a="http://schemas.openxmlformats.org/drawingml/2006/main">
            <a:r>
              <a:t/>
            </a:r>
          </a:p>
          <a:p xmlns:a="http://schemas.openxmlformats.org/drawingml/2006/main">
            <a:r>
              <a:t>주의: 이 논문이 중요한 영역을 모두 자동으로 찾아 주거나 OCR까지 해결한다는 뜻은 아니야.</a:t>
            </a:r>
          </a:p>
          <a:p xmlns:a="http://schemas.openxmlformats.org/drawingml/2006/main">
            <a:r>
              <a:t/>
            </a:r>
          </a:p>
          <a:p xmlns:a="http://schemas.openxmlformats.org/drawingml/2006/main">
            <a:r>
              <a:t>출처: 선정 근거: KoAltQ 샘플 관찰 + Bianchi et al., CVPR 2026 · 팀 적용 가설</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Paper overview : CVPR 2026</a:t>
            </a:r>
          </a:p>
          <a:p xmlns:a="http://schemas.openxmlformats.org/drawingml/2006/main">
            <a:r>
              <a:t/>
            </a:r>
          </a:p>
          <a:p xmlns:a="http://schemas.openxmlformats.org/drawingml/2006/main">
            <a:r>
              <a:t>이 페이지는 논문의 출처와 발표된 학술대회를 소개하는 장이야.</a:t>
            </a:r>
          </a:p>
          <a:p xmlns:a="http://schemas.openxmlformats.org/drawingml/2006/main">
            <a:r>
              <a:t/>
            </a:r>
          </a:p>
          <a:p xmlns:a="http://schemas.openxmlformats.org/drawingml/2006/main">
            <a:r>
              <a:t>위쪽은 제목·저자·소속 확인용이고, 아래쪽은 CVPR이 어떤 곳인지 설명하는 부분이야. 저자 이름을 전부 읽을 필요는 없어.</a:t>
            </a:r>
          </a:p>
          <a:p xmlns:a="http://schemas.openxmlformats.org/drawingml/2006/main">
            <a:r>
              <a:t/>
            </a:r>
          </a:p>
          <a:p xmlns:a="http://schemas.openxmlformats.org/drawingml/2006/main">
            <a:r>
              <a:t>“이 논문은 2026년 CVPR에 발표된 연구입니다. CVPR은 컴퓨터비전 분야의 대표적인 국제학술대회로, IEEE Computer Society와 CVF가 공동 후원합니다. 학술대회이므로 저널 IF와는 구분하고, 화면에는 학술적 위상을 참고할 수 있는 순위와 채택률을 함께 제시했습니다.”</a:t>
            </a:r>
          </a:p>
          <a:p xmlns:a="http://schemas.openxmlformats.org/drawingml/2006/main">
            <a:r>
              <a:t/>
            </a:r>
          </a:p>
          <a:p xmlns:a="http://schemas.openxmlformats.org/drawingml/2006/main">
            <a:r>
              <a:t>여기는 짧게 설명하고 이제 논문 내용으로 들어간다고 연결하면 돼.</a:t>
            </a:r>
          </a:p>
          <a:p xmlns:a="http://schemas.openxmlformats.org/drawingml/2006/main">
            <a:r>
              <a:t/>
            </a:r>
          </a:p>
          <a:p xmlns:a="http://schemas.openxmlformats.org/drawingml/2006/main">
            <a:r>
              <a:t>출처: CVPR 2026 공식 폐막 보고 · Google Scholar Metrics 2025 순위 인용 · Clarivate JCR / 확인: 2026-09-22</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Introduction : 기존 방식의 문제점</a:t>
            </a:r>
          </a:p>
          <a:p xmlns:a="http://schemas.openxmlformats.org/drawingml/2006/main">
            <a:r>
              <a:t/>
            </a:r>
          </a:p>
          <a:p xmlns:a="http://schemas.openxmlformats.org/drawingml/2006/main">
            <a:r>
              <a:t>여기부터는 우리 대회의 문제에서 논문 저자들이 해결하려는 문제로 넘어가는 장이야.</a:t>
            </a:r>
          </a:p>
          <a:p xmlns:a="http://schemas.openxmlformats.org/drawingml/2006/main">
            <a:r>
              <a:t/>
            </a:r>
          </a:p>
          <a:p xmlns:a="http://schemas.openxmlformats.org/drawingml/2006/main">
            <a:r>
              <a:t>문제는 두 가지야.</a:t>
            </a:r>
          </a:p>
          <a:p xmlns:a="http://schemas.openxmlformats.org/drawingml/2006/main">
            <a:r>
              <a:t/>
            </a:r>
          </a:p>
          <a:p xmlns:a="http://schemas.openxmlformats.org/drawingml/2006/main">
            <a:r>
              <a:t>1. 전체 이미지 설명은 사용자가 원하는 작은 영역을 중심으로 설명하기 어려움.</a:t>
            </a:r>
          </a:p>
          <a:p xmlns:a="http://schemas.openxmlformats.org/drawingml/2006/main">
            <a:r>
              <a:t>2. 영역 설명을 직접 학습시키려면 영역과 정답 문장을 짝지은 데이터가 필요함.</a:t>
            </a:r>
          </a:p>
          <a:p xmlns:a="http://schemas.openxmlformats.org/drawingml/2006/main">
            <a:r>
              <a:t/>
            </a:r>
          </a:p>
          <a:p xmlns:a="http://schemas.openxmlformats.org/drawingml/2006/main">
            <a:r>
              <a:t>“기존 이미지 캡셔닝은 사진 전체를 요약하는 데 초점이 있습니다. 원하는 작은 영역을 설명하도록 별도로 학습하려면, 각 영역의 위치와 대응하는 정답 문장을 준비해야 합니다. 다양한 영역과 조합까지 고려하면 데이터 구축 부담이 커집니다.”</a:t>
            </a:r>
          </a:p>
          <a:p xmlns:a="http://schemas.openxmlformats.org/drawingml/2006/main">
            <a:r>
              <a:t/>
            </a:r>
          </a:p>
          <a:p xmlns:a="http://schemas.openxmlformats.org/drawingml/2006/main">
            <a:r>
              <a:t>다음 장 연결: “그래서 저자들은 설명의 기본 단위를 바꾸었습니다.”</a:t>
            </a:r>
          </a:p>
          <a:p xmlns:a="http://schemas.openxmlformats.org/drawingml/2006/main">
            <a:r>
              <a:t/>
            </a:r>
          </a:p>
          <a:p xmlns:a="http://schemas.openxmlformats.org/drawingml/2006/main">
            <a:r>
              <a:t>출처: §1 Introduction</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Introduction : Patch-centric captioning</a:t>
            </a:r>
          </a:p>
          <a:p xmlns:a="http://schemas.openxmlformats.org/drawingml/2006/main">
            <a:r>
              <a:t/>
            </a:r>
          </a:p>
          <a:p xmlns:a="http://schemas.openxmlformats.org/drawingml/2006/main">
            <a:r>
              <a:t>이 페이지는 논문의 핵심 아이디어를 처음 제시하는 장이야.</a:t>
            </a:r>
          </a:p>
          <a:p xmlns:a="http://schemas.openxmlformats.org/drawingml/2006/main">
            <a:r>
              <a:t/>
            </a:r>
          </a:p>
          <a:p xmlns:a="http://schemas.openxmlformats.org/drawingml/2006/main">
            <a:r>
              <a:t>사진 전체를 하나로 취급하는 대신, 사진을 구성하는 작은 구역인 Patch를 기본 단위로 삼는 거야.</a:t>
            </a:r>
          </a:p>
          <a:p xmlns:a="http://schemas.openxmlformats.org/drawingml/2006/main">
            <a:r>
              <a:t/>
            </a:r>
          </a:p>
          <a:p xmlns:a="http://schemas.openxmlformats.org/drawingml/2006/main">
            <a:r>
              <a:t>- 패치 하나 선택 → 작은 부분 설명</a:t>
            </a:r>
          </a:p>
          <a:p xmlns:a="http://schemas.openxmlformats.org/drawingml/2006/main">
            <a:r>
              <a:t>- 패치 여러 개 선택 → 특정 영역 설명</a:t>
            </a:r>
          </a:p>
          <a:p xmlns:a="http://schemas.openxmlformats.org/drawingml/2006/main">
            <a:r>
              <a:t>- 모든 패치 선택 → 전체 이미지 설명</a:t>
            </a:r>
          </a:p>
          <a:p xmlns:a="http://schemas.openxmlformats.org/drawingml/2006/main">
            <a:r>
              <a:t/>
            </a:r>
          </a:p>
          <a:p xmlns:a="http://schemas.openxmlformats.org/drawingml/2006/main">
            <a:r>
              <a:t>“저자들은 설명의 기본 단위를 이미지 전체에서 패치로 바꾸었습니다. 필요한 패치의 특징을 모으면 작은 영역부터 전체 이미지까지 같은 처리 방식으로 설명할 수 있습니다.”</a:t>
            </a:r>
          </a:p>
          <a:p xmlns:a="http://schemas.openxmlformats.org/drawingml/2006/main">
            <a:r>
              <a:t/>
            </a:r>
          </a:p>
          <a:p xmlns:a="http://schemas.openxmlformats.org/drawingml/2006/main">
            <a:r>
              <a:t>여기서는 평균이나 Memory 계산을 자세히 설명하지 말고, 선택하는 패치가 달라지면 설명 범위가 달라진다는 아이디어만 전달하면 돼.</a:t>
            </a:r>
          </a:p>
          <a:p xmlns:a="http://schemas.openxmlformats.org/drawingml/2006/main">
            <a:r>
              <a:t/>
            </a:r>
          </a:p>
          <a:p xmlns:a="http://schemas.openxmlformats.org/drawingml/2006/main">
            <a:r>
              <a:t>출처: Figure 1B · §3.2 From Patches to Regions</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contributions</a:t>
            </a:r>
          </a:p>
          <a:p xmlns:a="http://schemas.openxmlformats.org/drawingml/2006/main">
            <a:r>
              <a:t/>
            </a:r>
          </a:p>
          <a:p xmlns:a="http://schemas.openxmlformats.org/drawingml/2006/main">
            <a:r>
              <a:t>이 페이지는 논문에서 새롭게 기여한 것을 세 가지로 정리한 장이야.</a:t>
            </a:r>
          </a:p>
          <a:p xmlns:a="http://schemas.openxmlformats.org/drawingml/2006/main">
            <a:r>
              <a:t/>
            </a:r>
          </a:p>
          <a:p xmlns:a="http://schemas.openxmlformats.org/drawingml/2006/main">
            <a:r>
              <a:t>- Unified framework: 여러 형태의 영역을 같은 구조로 설명</a:t>
            </a:r>
          </a:p>
          <a:p xmlns:a="http://schemas.openxmlformats.org/drawingml/2006/main">
            <a:r>
              <a:t>- Zero-shot regional captioning: 영역–문장 정답 쌍으로 직접 학습하지 않고 영역 설명</a:t>
            </a:r>
          </a:p>
          <a:p xmlns:a="http://schemas.openxmlformats.org/drawingml/2006/main">
            <a:r>
              <a:t>- Component analysis and evaluation: 어떤 구성요소가 중요한지 비교하고 실제 성능 평가</a:t>
            </a:r>
          </a:p>
          <a:p xmlns:a="http://schemas.openxmlformats.org/drawingml/2006/main">
            <a:r>
              <a:t/>
            </a:r>
          </a:p>
          <a:p xmlns:a="http://schemas.openxmlformats.org/drawingml/2006/main">
            <a:r>
              <a:t>“첫째, 다양한 영역의 캡셔닝을 패치 중심의 하나의 구조로 통합했습니다. 둘째, 기존 모델과 텍스트로 학습한 생성기를 연결해 영역 설명으로 확장했습니다. 셋째, 어떤 특징 추출 방식이 적합한지 분석하고 여러 과제에서 성능을 평가했습니다.”</a:t>
            </a:r>
          </a:p>
          <a:p xmlns:a="http://schemas.openxmlformats.org/drawingml/2006/main">
            <a:r>
              <a:t/>
            </a:r>
          </a:p>
          <a:p xmlns:a="http://schemas.openxmlformats.org/drawingml/2006/main">
            <a:r>
              <a:t>Zero-shot 주의: 모든 모델이 아무런 사전학습도 하지 않았다는 뜻은 아니야. 기존에 학습된 모델을 활용하되, 여기서 영역–문장 쌍으로 직접 가르치지 않는다는 의미야.</a:t>
            </a:r>
          </a:p>
          <a:p xmlns:a="http://schemas.openxmlformats.org/drawingml/2006/main">
            <a:r>
              <a:t/>
            </a:r>
          </a:p>
          <a:p xmlns:a="http://schemas.openxmlformats.org/drawingml/2006/main">
            <a:r>
              <a:t>출처: §1 Contributions · §3 · §4</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Related work : CLIP과 DINOv2의 역할</a:t>
            </a:r>
          </a:p>
          <a:p xmlns:a="http://schemas.openxmlformats.org/drawingml/2006/main">
            <a:r>
              <a:t/>
            </a:r>
          </a:p>
          <a:p xmlns:a="http://schemas.openxmlformats.org/drawingml/2006/main">
            <a:r>
              <a:t>이 페이지는 뒤에서 등장할 모델들이 각각 무엇을 잘하는지 소개하는 장이야.</a:t>
            </a:r>
          </a:p>
          <a:p xmlns:a="http://schemas.openxmlformats.org/drawingml/2006/main">
            <a:r>
              <a:t/>
            </a:r>
          </a:p>
          <a:p xmlns:a="http://schemas.openxmlformats.org/drawingml/2006/main">
            <a:r>
              <a:t>| 모델 | 쉽게 이해할 역할 |</a:t>
            </a:r>
          </a:p>
          <a:p xmlns:a="http://schemas.openxmlformats.org/drawingml/2006/main">
            <a:r>
              <a:t>|---|---|</a:t>
            </a:r>
          </a:p>
          <a:p xmlns:a="http://schemas.openxmlformats.org/drawingml/2006/main">
            <a:r>
              <a:t>| CLIP | 이미지와 문장의 의미를 연결 |</a:t>
            </a:r>
          </a:p>
          <a:p xmlns:a="http://schemas.openxmlformats.org/drawingml/2006/main">
            <a:r>
              <a:t>| DINOv2 | 이미지의 위치별 시각 특징 추출 |</a:t>
            </a:r>
          </a:p>
          <a:p xmlns:a="http://schemas.openxmlformats.org/drawingml/2006/main">
            <a:r>
              <a:t>| Talk2DINO | CLIP의 문장 특징을 DINOv2 특징과 비교할 수 있도록 연결 |</a:t>
            </a:r>
          </a:p>
          <a:p xmlns:a="http://schemas.openxmlformats.org/drawingml/2006/main">
            <a:r>
              <a:t/>
            </a:r>
          </a:p>
          <a:p xmlns:a="http://schemas.openxmlformats.org/drawingml/2006/main">
            <a:r>
              <a:t>“CLIP은 이미지와 문장을 연결하는 데 강점이 있지만, 전체 이미지 중심의 학습이 작은 패치의 의미까지 충분히 보장하지는 않습니다. DINOv2는 위치별 시각 특징에 강점이 있고, Talk2DINO는 여기에 텍스트와의 연결을 제공합니다.”</a:t>
            </a:r>
          </a:p>
          <a:p xmlns:a="http://schemas.openxmlformats.org/drawingml/2006/main">
            <a:r>
              <a:t/>
            </a:r>
          </a:p>
          <a:p xmlns:a="http://schemas.openxmlformats.org/drawingml/2006/main">
            <a:r>
              <a:t>핵심: DINOv2가 직접 문장을 생성하는 게 아니야. 이미지 특징 추출과 문장 생성은 서로 다른 역할이야.</a:t>
            </a:r>
          </a:p>
          <a:p xmlns:a="http://schemas.openxmlformats.org/drawingml/2006/main">
            <a:r>
              <a:t/>
            </a:r>
          </a:p>
          <a:p xmlns:a="http://schemas.openxmlformats.org/drawingml/2006/main">
            <a:r>
              <a:t>출처: §2 Language-aligned Dense Representations · §4.2</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Related work : Zero-shot captioning의 확장</a:t>
            </a:r>
          </a:p>
          <a:p xmlns:a="http://schemas.openxmlformats.org/drawingml/2006/main">
            <a:r>
              <a:t/>
            </a:r>
          </a:p>
          <a:p xmlns:a="http://schemas.openxmlformats.org/drawingml/2006/main">
            <a:r>
              <a:t>이 페이지는 텍스트만으로 문장 생성기를 학습하는 아이디어 자체는 기존에도 있었다는 배경 설명이야.</a:t>
            </a:r>
          </a:p>
          <a:p xmlns:a="http://schemas.openxmlformats.org/drawingml/2006/main">
            <a:r>
              <a:t/>
            </a:r>
          </a:p>
          <a:p xmlns:a="http://schemas.openxmlformats.org/drawingml/2006/main">
            <a:r>
              <a:t>기존 방법은 대체로 이렇게 생각했어.</a:t>
            </a:r>
          </a:p>
          <a:p xmlns:a="http://schemas.openxmlformats.org/drawingml/2006/main">
            <a:r>
              <a:t/>
            </a:r>
          </a:p>
          <a:p xmlns:a="http://schemas.openxmlformats.org/drawingml/2006/main">
            <a:r>
              <a:t>“문장의 특징을 보고 원래 문장을 복원하도록 생성기를 학습하면, 나중에는 이미지 특징으로도 문장을 만들 수 있지 않을까?”</a:t>
            </a:r>
          </a:p>
          <a:p xmlns:a="http://schemas.openxmlformats.org/drawingml/2006/main">
            <a:r>
              <a:t/>
            </a:r>
          </a:p>
          <a:p xmlns:a="http://schemas.openxmlformats.org/drawingml/2006/main">
            <a:r>
              <a:t>다만 이미지와 문장의 특징 차이를 보완해야 했고, 주로 전체 이미지 설명에 사용됐어.</a:t>
            </a:r>
          </a:p>
          <a:p xmlns:a="http://schemas.openxmlformats.org/drawingml/2006/main">
            <a:r>
              <a:t/>
            </a:r>
          </a:p>
          <a:p xmlns:a="http://schemas.openxmlformats.org/drawingml/2006/main">
            <a:r>
              <a:t>“기존 Zero-shot captioning 연구들은 텍스트 특징에서 문장을 복원하도록 생성기를 학습하고, 이를 이미지 특징에 적용하는 방법을 사용했습니다. 이 논문은 그러한 생성 방식을 지역 정보가 풍부한 패치 특징과 연결해 원하는 영역의 설명으로 확장합니다.”</a:t>
            </a:r>
          </a:p>
          <a:p xmlns:a="http://schemas.openxmlformats.org/drawingml/2006/main">
            <a:r>
              <a:t/>
            </a:r>
          </a:p>
          <a:p xmlns:a="http://schemas.openxmlformats.org/drawingml/2006/main">
            <a:r>
              <a:t>이후 설명 범위: 여러 변형 중 Talk2DINO + Memory 조합을 대표로 설명한다고 알려주면 좋아.</a:t>
            </a:r>
          </a:p>
          <a:p xmlns:a="http://schemas.openxmlformats.org/drawingml/2006/main">
            <a:r>
              <a:t/>
            </a:r>
          </a:p>
          <a:p xmlns:a="http://schemas.openxmlformats.org/drawingml/2006/main">
            <a:r>
              <a:t>출처: §2 Zero-shot Image Captioning · §3</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Methods : 모델 구성과 학습 범위</a:t>
            </a:r>
          </a:p>
          <a:p xmlns:a="http://schemas.openxmlformats.org/drawingml/2006/main">
            <a:r>
              <a:t/>
            </a:r>
          </a:p>
          <a:p xmlns:a="http://schemas.openxmlformats.org/drawingml/2006/main">
            <a:r>
              <a:t>이 페이지는 무엇을 가져다 쓰고, 무엇을 새로 학습하는지 구분하는 장이야.</a:t>
            </a:r>
          </a:p>
          <a:p xmlns:a="http://schemas.openxmlformats.org/drawingml/2006/main">
            <a:r>
              <a:t/>
            </a:r>
          </a:p>
          <a:p xmlns:a="http://schemas.openxmlformats.org/drawingml/2006/main">
            <a:r>
              <a:t>여기서 가장 중요한 구분은:</a:t>
            </a:r>
          </a:p>
          <a:p xmlns:a="http://schemas.openxmlformats.org/drawingml/2006/main">
            <a:r>
              <a:t/>
            </a:r>
          </a:p>
          <a:p xmlns:a="http://schemas.openxmlformats.org/drawingml/2006/main">
            <a:r>
              <a:t>모델 = 계산하는 장치 / 벡터 = 그 장치에 입력을 넣어서 나온 계산 결과</a:t>
            </a:r>
          </a:p>
          <a:p xmlns:a="http://schemas.openxmlformats.org/drawingml/2006/main">
            <a:r>
              <a:t/>
            </a:r>
          </a:p>
          <a:p xmlns:a="http://schemas.openxmlformats.org/drawingml/2006/main">
            <a:r>
              <a:t>DINOv2, CLIP 텍스트 인코더, Talk2DINO 연결은 기존 학습 결과를 고정해서 사용하고, 대표 구성에서는 문장 생성기를 텍스트로 학습해.</a:t>
            </a:r>
          </a:p>
          <a:p xmlns:a="http://schemas.openxmlformats.org/drawingml/2006/main">
            <a:r>
              <a:t/>
            </a:r>
          </a:p>
          <a:p xmlns:a="http://schemas.openxmlformats.org/drawingml/2006/main">
            <a:r>
              <a:t>“이 구성에서는 특징 추출 모델과 연결 모듈을 고정하고 문장 생성기를 학습합니다. 학습되는 것은 모델 내부의 파라미터입니다. 반면 이미지나 문장에서 나오는 특징 벡터는 입력마다 계산되는 결과입니다.”</a:t>
            </a:r>
          </a:p>
          <a:p xmlns:a="http://schemas.openxmlformats.org/drawingml/2006/main">
            <a:r>
              <a:t/>
            </a:r>
          </a:p>
          <a:p xmlns:a="http://schemas.openxmlformats.org/drawingml/2006/main">
            <a:r>
              <a:t>이 장에서 잡아야 할 오해: 벡터가 새로 계산됐다고 모델이 새로 학습된 건 아니야.</a:t>
            </a:r>
          </a:p>
          <a:p xmlns:a="http://schemas.openxmlformats.org/drawingml/2006/main">
            <a:r>
              <a:t/>
            </a:r>
          </a:p>
          <a:p xmlns:a="http://schemas.openxmlformats.org/drawingml/2006/main">
            <a:r>
              <a:t>출처: §3 Assumptions · §3.1 · §4.2 · 대표 조합: Talk2DINO + Memory</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Methods : Image–Text feature alignment</a:t>
            </a:r>
          </a:p>
          <a:p xmlns:a="http://schemas.openxmlformats.org/drawingml/2006/main">
            <a:r>
              <a:t/>
            </a:r>
          </a:p>
          <a:p xmlns:a="http://schemas.openxmlformats.org/drawingml/2006/main">
            <a:r>
              <a:t>이 페이지는 네가 처음에 궁금해했던 “이미지에서 나온 숫자와 문장에서 나온 숫자를 어떻게 비교하냐?”에 답하는 장이야.</a:t>
            </a:r>
          </a:p>
          <a:p xmlns:a="http://schemas.openxmlformats.org/drawingml/2006/main">
            <a:r>
              <a:t/>
            </a:r>
          </a:p>
          <a:p xmlns:a="http://schemas.openxmlformats.org/drawingml/2006/main">
            <a:r>
              <a:t>두 경로를 따로 짚어줘.</a:t>
            </a:r>
          </a:p>
          <a:p xmlns:a="http://schemas.openxmlformats.org/drawingml/2006/main">
            <a:r>
              <a:t/>
            </a:r>
          </a:p>
          <a:p xmlns:a="http://schemas.openxmlformats.org/drawingml/2006/main">
            <a:r>
              <a:t/>
            </a:r>
          </a:p>
          <a:p xmlns:a="http://schemas.openxmlformats.org/drawingml/2006/main">
            <a:r>
              <a:t>이미지 → DINOv2 → 이미지 유래 특징 V</a:t>
            </a:r>
          </a:p>
          <a:p xmlns:a="http://schemas.openxmlformats.org/drawingml/2006/main">
            <a:r>
              <a:t/>
            </a:r>
          </a:p>
          <a:p xmlns:a="http://schemas.openxmlformats.org/drawingml/2006/main">
            <a:r>
              <a:t>문장 → CLIP text encoder → Talk2DINO → 텍스트 유래 특징 T</a:t>
            </a:r>
          </a:p>
          <a:p xmlns:a="http://schemas.openxmlformats.org/drawingml/2006/main">
            <a:r>
              <a:t/>
            </a:r>
          </a:p>
          <a:p xmlns:a="http://schemas.openxmlformats.org/drawingml/2006/main">
            <a:r>
              <a:t/>
            </a:r>
          </a:p>
          <a:p xmlns:a="http://schemas.openxmlformats.org/drawingml/2006/main">
            <a:r>
              <a:t>Talk2DINO를 통과한 T는 DINOv2 특징 공간에서 비교할 수 있는 표현이 돼.</a:t>
            </a:r>
          </a:p>
          <a:p xmlns:a="http://schemas.openxmlformats.org/drawingml/2006/main">
            <a:r>
              <a:t/>
            </a:r>
          </a:p>
          <a:p xmlns:a="http://schemas.openxmlformats.org/drawingml/2006/main">
            <a:r>
              <a:t>“이미지와 문장은 서로 다른 경로로 특징을 얻습니다. Talk2DINO는 문장 특징을 DINOv2 특징 공간과 연결해, 이미지 패치와 문장의 의미를 비교할 수 있도록 합니다.”</a:t>
            </a:r>
          </a:p>
          <a:p xmlns:a="http://schemas.openxmlformats.org/drawingml/2006/main">
            <a:r>
              <a:t/>
            </a:r>
          </a:p>
          <a:p xmlns:a="http://schemas.openxmlformats.org/drawingml/2006/main">
            <a:r>
              <a:t>주의: 숫자 개수가 같다는 것만으로 비교가 의미 있어지는 건 아니야. 의미가 대응하도록 사전에 학습된 연결이 있어야 해. 또 같은 공간이라고 두 종류의 특징이 완전히 같아지는 것도 아니야.</a:t>
            </a:r>
          </a:p>
          <a:p xmlns:a="http://schemas.openxmlformats.org/drawingml/2006/main">
            <a:r>
              <a:t/>
            </a:r>
          </a:p>
          <a:p xmlns:a="http://schemas.openxmlformats.org/drawingml/2006/main">
            <a:r>
              <a:t>출처: §2 Talk2DINO · §3 · §4.2 · 개념도</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Methods : Text-only decoder training</a:t>
            </a:r>
          </a:p>
          <a:p xmlns:a="http://schemas.openxmlformats.org/drawingml/2006/main">
            <a:r>
              <a:t/>
            </a:r>
          </a:p>
          <a:p xmlns:a="http://schemas.openxmlformats.org/drawingml/2006/main">
            <a:r>
              <a:t>이 페이지는 문장 생성기를 실제로 어떻게 학습시키는지 보여주는 장이야.</a:t>
            </a:r>
          </a:p>
          <a:p xmlns:a="http://schemas.openxmlformats.org/drawingml/2006/main">
            <a:r>
              <a:t/>
            </a:r>
          </a:p>
          <a:p xmlns:a="http://schemas.openxmlformats.org/drawingml/2006/main">
            <a:r>
              <a:t>A dog runs.라는 문장을 예로 들면:</a:t>
            </a:r>
          </a:p>
          <a:p xmlns:a="http://schemas.openxmlformats.org/drawingml/2006/main">
            <a:r>
              <a:t/>
            </a:r>
          </a:p>
          <a:p xmlns:a="http://schemas.openxmlformats.org/drawingml/2006/main">
            <a:r>
              <a:t>1. 문장을 CLIP과 Talk2DINO에 넣어 T를 계산.</a:t>
            </a:r>
          </a:p>
          <a:p xmlns:a="http://schemas.openxmlformats.org/drawingml/2006/main">
            <a:r>
              <a:t>2. 생성기가 T를 보고 원래 문장을 복원하도록 학습.</a:t>
            </a:r>
          </a:p>
          <a:p xmlns:a="http://schemas.openxmlformats.org/drawingml/2006/main">
            <a:r>
              <a:t>3. 예측한 다음 토큰과 원래 문장의 정답 토큰을 비교.</a:t>
            </a:r>
          </a:p>
          <a:p xmlns:a="http://schemas.openxmlformats.org/drawingml/2006/main">
            <a:r>
              <a:t>4. 차이가 줄어들도록 생성기의 파라미터 수정.</a:t>
            </a:r>
          </a:p>
          <a:p xmlns:a="http://schemas.openxmlformats.org/drawingml/2006/main">
            <a:r>
              <a:t/>
            </a:r>
          </a:p>
          <a:p xmlns:a="http://schemas.openxmlformats.org/drawingml/2006/main">
            <a:r>
              <a:t>“원래 문장에서 특징 벡터를 만든 뒤, 그 특징을 조건으로 원래 문장을 복원하도록 생성기를 학습합니다. 이때 원래 문장 자체가 정답 역할을 하므로, 생성기 학습에 이미지와 영역별 정답 문장 쌍은 사용하지 않습니다.”</a:t>
            </a:r>
          </a:p>
          <a:p xmlns:a="http://schemas.openxmlformats.org/drawingml/2006/main">
            <a:r>
              <a:t/>
            </a:r>
          </a:p>
          <a:p xmlns:a="http://schemas.openxmlformats.org/drawingml/2006/main">
            <a:r>
              <a:t>정확히 짚을 부분: 여기서 줄이는 것은 이미지 벡터와 문장 벡터의 거리가 아니라, 생성기가 예측한 토큰과 정답 토큰 사이의 오차야.</a:t>
            </a:r>
          </a:p>
          <a:p xmlns:a="http://schemas.openxmlformats.org/drawingml/2006/main">
            <a:r>
              <a:t/>
            </a:r>
          </a:p>
          <a:p xmlns:a="http://schemas.openxmlformats.org/drawingml/2006/main">
            <a:r>
              <a:t>출처: §3.1 Zero-shot decoding · §4.2 · 개념도</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Methods : Text memory 준비</a:t>
            </a:r>
          </a:p>
          <a:p xmlns:a="http://schemas.openxmlformats.org/drawingml/2006/main">
            <a:r>
              <a:t/>
            </a:r>
          </a:p>
          <a:p xmlns:a="http://schemas.openxmlformats.org/drawingml/2006/main">
            <a:r>
              <a:t>이 페이지는 나중에 이미지 특징을 보완하는 데 사용할 참고 자료를 만드는 과정이야.</a:t>
            </a:r>
          </a:p>
          <a:p xmlns:a="http://schemas.openxmlformats.org/drawingml/2006/main">
            <a:r>
              <a:t/>
            </a:r>
          </a:p>
          <a:p xmlns:a="http://schemas.openxmlformats.org/drawingml/2006/main">
            <a:r>
              <a:t>여러 문장을 같은 변환 경로에 넣어서 T₁, T₂, T₃…를 얻고 저장해.</a:t>
            </a:r>
          </a:p>
          <a:p xmlns:a="http://schemas.openxmlformats.org/drawingml/2006/main">
            <a:r>
              <a:t/>
            </a:r>
          </a:p>
          <a:p xmlns:a="http://schemas.openxmlformats.org/drawingml/2006/main">
            <a:r>
              <a:t/>
            </a:r>
          </a:p>
          <a:p xmlns:a="http://schemas.openxmlformats.org/drawingml/2006/main">
            <a:r>
              <a:t>여러 문장 → CLIP + Talk2DINO → 여러 T 벡터 → 저장소</a:t>
            </a:r>
          </a:p>
          <a:p xmlns:a="http://schemas.openxmlformats.org/drawingml/2006/main">
            <a:r>
              <a:t/>
            </a:r>
          </a:p>
          <a:p xmlns:a="http://schemas.openxmlformats.org/drawingml/2006/main">
            <a:r>
              <a:t/>
            </a:r>
          </a:p>
          <a:p xmlns:a="http://schemas.openxmlformats.org/drawingml/2006/main">
            <a:r>
              <a:t>“Memory는 여러 문장에서 미리 계산한 특징 벡터를 저장한 것입니다. 새로운 모델을 학습하는 과정이 아니라, 이미 학습된 모델로 특징을 계산하고 저장하는 과정입니다.”</a:t>
            </a:r>
          </a:p>
          <a:p xmlns:a="http://schemas.openxmlformats.org/drawingml/2006/main">
            <a:r>
              <a:t/>
            </a:r>
          </a:p>
          <a:p xmlns:a="http://schemas.openxmlformats.org/drawingml/2006/main">
            <a:r>
              <a:t>16페이지와 차이:</a:t>
            </a:r>
          </a:p>
          <a:p xmlns:a="http://schemas.openxmlformats.org/drawingml/2006/main">
            <a:r>
              <a:t/>
            </a:r>
          </a:p>
          <a:p xmlns:a="http://schemas.openxmlformats.org/drawingml/2006/main">
            <a:r>
              <a:t>- 16페이지: 생성기의 계산 규칙을 학습</a:t>
            </a:r>
          </a:p>
          <a:p xmlns:a="http://schemas.openxmlformats.org/drawingml/2006/main">
            <a:r>
              <a:t>- 17페이지: 나중에 참고할 벡터들을 계산·저장</a:t>
            </a:r>
          </a:p>
          <a:p xmlns:a="http://schemas.openxmlformats.org/drawingml/2006/main">
            <a:r>
              <a:t/>
            </a:r>
          </a:p>
          <a:p xmlns:a="http://schemas.openxmlformats.org/drawingml/2006/main">
            <a:r>
              <a:t>Memory 자체가 문장을 만드는 모델은 아니야.</a:t>
            </a:r>
          </a:p>
          <a:p xmlns:a="http://schemas.openxmlformats.org/drawingml/2006/main">
            <a:r>
              <a:t/>
            </a:r>
          </a:p>
          <a:p xmlns:a="http://schemas.openxmlformats.org/drawingml/2006/main">
            <a:r>
              <a:t>출처: §4.2 Memory-based latent projection</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Methods : 선택 영역의 Patch aggregation</a:t>
            </a:r>
          </a:p>
          <a:p xmlns:a="http://schemas.openxmlformats.org/drawingml/2006/main">
            <a:r>
              <a:t/>
            </a:r>
          </a:p>
          <a:p xmlns:a="http://schemas.openxmlformats.org/drawingml/2006/main">
            <a:r>
              <a:t>이 페이지는 이미지의 여러 패치 특징을 영역 하나의 특징으로 합치는 과정이야.</a:t>
            </a:r>
          </a:p>
          <a:p xmlns:a="http://schemas.openxmlformats.org/drawingml/2006/main">
            <a:r>
              <a:t/>
            </a:r>
          </a:p>
          <a:p xmlns:a="http://schemas.openxmlformats.org/drawingml/2006/main">
            <a:r>
              <a:t>강아지 영역에 패치가 여러 개 걸쳐 있으면, 그 패치들의 특징을 평균 내서 대표 벡터 V를 만들어.</a:t>
            </a:r>
          </a:p>
          <a:p xmlns:a="http://schemas.openxmlformats.org/drawingml/2006/main">
            <a:r>
              <a:t/>
            </a:r>
          </a:p>
          <a:p xmlns:a="http://schemas.openxmlformats.org/drawingml/2006/main">
            <a:r>
              <a:t>“먼저 이미지 전체에서 패치 특징을 추출한 뒤, 지정한 영역에 해당하는 패치만 선택합니다. 기본 집계 방식은 선택한 특징들의 평균이며, 여기에 별도로 학습할 파라미터는 없습니다.”</a:t>
            </a:r>
          </a:p>
          <a:p xmlns:a="http://schemas.openxmlformats.org/drawingml/2006/main">
            <a:r>
              <a:t/>
            </a:r>
          </a:p>
          <a:p xmlns:a="http://schemas.openxmlformats.org/drawingml/2006/main">
            <a:r>
              <a:t>여기서 강조할 것: 평균을 내도 V는 여전히 이미지에서 얻은 특징이야. 평균만으로 문장 특징으로 바뀌지는 않아.</a:t>
            </a:r>
          </a:p>
          <a:p xmlns:a="http://schemas.openxmlformats.org/drawingml/2006/main">
            <a:r>
              <a:t/>
            </a:r>
          </a:p>
          <a:p xmlns:a="http://schemas.openxmlformats.org/drawingml/2006/main">
            <a:r>
              <a:t>일부 전체 이미지 실험에서는 가중 평균을 사용하지만, 이 장에서는 기본 평균 원리를 설명하면 돼.</a:t>
            </a:r>
          </a:p>
          <a:p xmlns:a="http://schemas.openxmlformats.org/drawingml/2006/main">
            <a:r>
              <a:t/>
            </a:r>
          </a:p>
          <a:p xmlns:a="http://schemas.openxmlformats.org/drawingml/2006/main">
            <a:r>
              <a:t>출처: §3.1 Parameter-free aggregation · §3.2</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Methods : Modality gap과 보완 방법</a:t>
            </a:r>
          </a:p>
          <a:p xmlns:a="http://schemas.openxmlformats.org/drawingml/2006/main">
            <a:r>
              <a:t/>
            </a:r>
          </a:p>
          <a:p xmlns:a="http://schemas.openxmlformats.org/drawingml/2006/main">
            <a:r>
              <a:t>이 페이지는 왜 이미지 특징 V를 생성기에 바로 넣는 것만으로 충분하지 않은지 설명해.</a:t>
            </a:r>
          </a:p>
          <a:p xmlns:a="http://schemas.openxmlformats.org/drawingml/2006/main">
            <a:r>
              <a:t/>
            </a:r>
          </a:p>
          <a:p xmlns:a="http://schemas.openxmlformats.org/drawingml/2006/main">
            <a:r>
              <a:t>생성기는 학습할 때 문장에서 얻은 T를 봤어. 그런데 실제 사용에서는 이미지에서 얻은 V가 들어오잖아. 비교 가능한 같은 공간에 있어도 두 입력의 분포가 다를 수 있어.</a:t>
            </a:r>
          </a:p>
          <a:p xmlns:a="http://schemas.openxmlformats.org/drawingml/2006/main">
            <a:r>
              <a:t/>
            </a:r>
          </a:p>
          <a:p xmlns:a="http://schemas.openxmlformats.org/drawingml/2006/main">
            <a:r>
              <a:t>비유하면, 같은 단위로 표현된 자료라도 실제로 자주 나타나는 값의 범위와 조합이 다른 거야.</a:t>
            </a:r>
          </a:p>
          <a:p xmlns:a="http://schemas.openxmlformats.org/drawingml/2006/main">
            <a:r>
              <a:t/>
            </a:r>
          </a:p>
          <a:p xmlns:a="http://schemas.openxmlformats.org/drawingml/2006/main">
            <a:r>
              <a:t>“문장 특징과 이미지 특징은 같은 공간에서 비교할 수 있지만, 분포까지 같지는 않습니다. 따라서 텍스트 특징으로 학습한 생성기에 이미지 특징을 입력하면 차이가 발생할 수 있고, 이를 줄이는 보완 과정이 필요합니다.”</a:t>
            </a:r>
          </a:p>
          <a:p xmlns:a="http://schemas.openxmlformats.org/drawingml/2006/main">
            <a:r>
              <a:t/>
            </a:r>
          </a:p>
          <a:p xmlns:a="http://schemas.openxmlformats.org/drawingml/2006/main">
            <a:r>
              <a:t>이 장의 Memory, Noise, Diffusion은 그 차이를 다루는 서로 다른 선택지야. 전부 순서대로 적용한다는 뜻은 아니야.</a:t>
            </a:r>
          </a:p>
          <a:p xmlns:a="http://schemas.openxmlformats.org/drawingml/2006/main">
            <a:r>
              <a:t/>
            </a:r>
          </a:p>
          <a:p xmlns:a="http://schemas.openxmlformats.org/drawingml/2006/main">
            <a:r>
              <a:t>출처: §3.1 · §4.2 · 이후 도식은 Memory 조합</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Methods : Memory-based projection</a:t>
            </a:r>
          </a:p>
          <a:p xmlns:a="http://schemas.openxmlformats.org/drawingml/2006/main">
            <a:r>
              <a:t/>
            </a:r>
          </a:p>
          <a:p xmlns:a="http://schemas.openxmlformats.org/drawingml/2006/main">
            <a:r>
              <a:t>이 페이지는 Memory를 실제로 어떻게 사용하는지 설명하는 핵심 장이야.</a:t>
            </a:r>
          </a:p>
          <a:p xmlns:a="http://schemas.openxmlformats.org/drawingml/2006/main">
            <a:r>
              <a:t/>
            </a:r>
          </a:p>
          <a:p xmlns:a="http://schemas.openxmlformats.org/drawingml/2006/main">
            <a:r>
              <a:t>순서대로 설명하면 돼.</a:t>
            </a:r>
          </a:p>
          <a:p xmlns:a="http://schemas.openxmlformats.org/drawingml/2006/main">
            <a:r>
              <a:t/>
            </a:r>
          </a:p>
          <a:p xmlns:a="http://schemas.openxmlformats.org/drawingml/2006/main">
            <a:r>
              <a:t>1. 이미지 영역의 특징 V와 저장된 T들을 비교.</a:t>
            </a:r>
          </a:p>
          <a:p xmlns:a="http://schemas.openxmlformats.org/drawingml/2006/main">
            <a:r>
              <a:t>2. T마다 유사도 점수 하나씩 계산.</a:t>
            </a:r>
          </a:p>
          <a:p xmlns:a="http://schemas.openxmlformats.org/drawingml/2006/main">
            <a:r>
              <a:t>3. Softmax로 점수를 합이 1인 비중으로 변환.</a:t>
            </a:r>
          </a:p>
          <a:p xmlns:a="http://schemas.openxmlformats.org/drawingml/2006/main">
            <a:r>
              <a:t>4. 그 비중대로 T들을 섞어 Z 생성.</a:t>
            </a:r>
          </a:p>
          <a:p xmlns:a="http://schemas.openxmlformats.org/drawingml/2006/main">
            <a:r>
              <a:t/>
            </a:r>
          </a:p>
          <a:p xmlns:a="http://schemas.openxmlformats.org/drawingml/2006/main">
            <a:r>
              <a:t>예를 들어 설명용으로 비중이 0.7, 0.2, 0.1이라면:</a:t>
            </a:r>
          </a:p>
          <a:p xmlns:a="http://schemas.openxmlformats.org/drawingml/2006/main">
            <a:r>
              <a:t/>
            </a:r>
          </a:p>
          <a:p xmlns:a="http://schemas.openxmlformats.org/drawingml/2006/main">
            <a:r>
              <a:t/>
            </a:r>
          </a:p>
          <a:p xmlns:a="http://schemas.openxmlformats.org/drawingml/2006/main">
            <a:r>
              <a:t>Z = 0.7 × T₁ + 0.2 × T₂ + 0.1 × T₃</a:t>
            </a:r>
          </a:p>
          <a:p xmlns:a="http://schemas.openxmlformats.org/drawingml/2006/main">
            <a:r>
              <a:t/>
            </a:r>
          </a:p>
          <a:p xmlns:a="http://schemas.openxmlformats.org/drawingml/2006/main">
            <a:r>
              <a:t/>
            </a:r>
          </a:p>
          <a:p xmlns:a="http://schemas.openxmlformats.org/drawingml/2006/main">
            <a:r>
              <a:t>“현재 이미지 영역과 비슷한 텍스트 특징에 더 큰 비중을 주고, 그 특징들을 가중합합니다. 이렇게 만든 Z를 생성기에 전달해, 학습할 때 사용한 텍스트 특징과의 차이를 보완합니다.”</a:t>
            </a:r>
          </a:p>
          <a:p xmlns:a="http://schemas.openxmlformats.org/drawingml/2006/main">
            <a:r>
              <a:t/>
            </a:r>
          </a:p>
          <a:p xmlns:a="http://schemas.openxmlformats.org/drawingml/2006/main">
            <a:r>
              <a:t>꼭 구분해 줘:</a:t>
            </a:r>
          </a:p>
          <a:p xmlns:a="http://schemas.openxmlformats.org/drawingml/2006/main">
            <a:r>
              <a:t/>
            </a:r>
          </a:p>
          <a:p xmlns:a="http://schemas.openxmlformats.org/drawingml/2006/main">
            <a:r>
              <a:t>- 내적 결과: 유사도 점수</a:t>
            </a:r>
          </a:p>
          <a:p xmlns:a="http://schemas.openxmlformats.org/drawingml/2006/main">
            <a:r>
              <a:t>- 가중합 결과: 생성기에 넣을 벡터 Z</a:t>
            </a:r>
          </a:p>
          <a:p xmlns:a="http://schemas.openxmlformats.org/drawingml/2006/main">
            <a:r>
              <a:t>- 가중치: 사진마다 계산되는 비중으로, 새로 학습하는 모델 파라미터가 아님</a:t>
            </a:r>
          </a:p>
          <a:p xmlns:a="http://schemas.openxmlformats.org/drawingml/2006/main">
            <a:r>
              <a:t/>
            </a:r>
          </a:p>
          <a:p xmlns:a="http://schemas.openxmlformats.org/drawingml/2006/main">
            <a:r>
              <a:t>출처: §4.2 · V, T, Z는 설명용 기호</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Methods : 이미지에서 Caption까지</a:t>
            </a:r>
          </a:p>
          <a:p xmlns:a="http://schemas.openxmlformats.org/drawingml/2006/main">
            <a:r>
              <a:t/>
            </a:r>
          </a:p>
          <a:p xmlns:a="http://schemas.openxmlformats.org/drawingml/2006/main">
            <a:r>
              <a:t>이 페이지는 앞에서 나눠 설명한 과정을 실제 사용 순서로 한 번에 연결하는 장이야.</a:t>
            </a:r>
          </a:p>
          <a:p xmlns:a="http://schemas.openxmlformats.org/drawingml/2006/main">
            <a:r>
              <a:t/>
            </a:r>
          </a:p>
          <a:p xmlns:a="http://schemas.openxmlformats.org/drawingml/2006/main">
            <a:r>
              <a:t>“실제 이미지가 들어오면 DINOv2가 패치 특징을 추출합니다. 선택한 영역의 특징을 평균 내어 V를 만들고, Memory와의 유사도를 이용해 Z를 구성합니다. 마지막으로 이미 학습한 생성기에 Z를 넣어 설명문을 얻습니다.”</a:t>
            </a:r>
          </a:p>
          <a:p xmlns:a="http://schemas.openxmlformats.org/drawingml/2006/main">
            <a:r>
              <a:t/>
            </a:r>
          </a:p>
          <a:p xmlns:a="http://schemas.openxmlformats.org/drawingml/2006/main">
            <a:r>
              <a:t>여기서는 앞 장의 세부 수식을 다시 길게 설명하지 말고, 화살표를 따라가면서 사진에서 문장까지 이어지는 흐름을 확인해 주면 돼.</a:t>
            </a:r>
          </a:p>
          <a:p xmlns:a="http://schemas.openxmlformats.org/drawingml/2006/main">
            <a:r>
              <a:t/>
            </a:r>
          </a:p>
          <a:p xmlns:a="http://schemas.openxmlformats.org/drawingml/2006/main">
            <a:r>
              <a:t>중요: 이 과정에서 모델을 다시 학습하지 않아. 학습된 모델로 계산하는 단계가 Inference야.</a:t>
            </a:r>
          </a:p>
          <a:p xmlns:a="http://schemas.openxmlformats.org/drawingml/2006/main">
            <a:r>
              <a:t/>
            </a:r>
          </a:p>
          <a:p xmlns:a="http://schemas.openxmlformats.org/drawingml/2006/main">
            <a:r>
              <a:t>출처: §3 Framework · §4.2 · Talk2DINO + Memory</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Methods : Caption generation</a:t>
            </a:r>
          </a:p>
          <a:p xmlns:a="http://schemas.openxmlformats.org/drawingml/2006/main">
            <a:r>
              <a:t/>
            </a:r>
          </a:p>
          <a:p xmlns:a="http://schemas.openxmlformats.org/drawingml/2006/main">
            <a:r>
              <a:t>이 페이지는 벡터를 넣었는데 어떻게 실제 문장이 나오냐?를 설명하는 장이야.</a:t>
            </a:r>
          </a:p>
          <a:p xmlns:a="http://schemas.openxmlformats.org/drawingml/2006/main">
            <a:r>
              <a:t/>
            </a:r>
          </a:p>
          <a:p xmlns:a="http://schemas.openxmlformats.org/drawingml/2006/main">
            <a:r>
              <a:t>생성기는 Z를 문장 생성용 힌트로 바꾸고, 이미 생성한 토큰과 함께 사용해서 다음 토큰을 계속 예측해.</a:t>
            </a:r>
          </a:p>
          <a:p xmlns:a="http://schemas.openxmlformats.org/drawingml/2006/main">
            <a:r>
              <a:t/>
            </a:r>
          </a:p>
          <a:p xmlns:a="http://schemas.openxmlformats.org/drawingml/2006/main">
            <a:r>
              <a:t/>
            </a:r>
          </a:p>
          <a:p xmlns:a="http://schemas.openxmlformats.org/drawingml/2006/main">
            <a:r>
              <a:t>입력 힌트</a:t>
            </a:r>
          </a:p>
          <a:p xmlns:a="http://schemas.openxmlformats.org/drawingml/2006/main">
            <a:r>
              <a:t>   ↓</a:t>
            </a:r>
          </a:p>
          <a:p xmlns:a="http://schemas.openxmlformats.org/drawingml/2006/main">
            <a:r>
              <a:t>A → dog → is → running → … → 종료</a:t>
            </a:r>
          </a:p>
          <a:p xmlns:a="http://schemas.openxmlformats.org/drawingml/2006/main">
            <a:r>
              <a:t/>
            </a:r>
          </a:p>
          <a:p xmlns:a="http://schemas.openxmlformats.org/drawingml/2006/main">
            <a:r>
              <a:t/>
            </a:r>
          </a:p>
          <a:p xmlns:a="http://schemas.openxmlformats.org/drawingml/2006/main">
            <a:r>
              <a:t>토큰은 반드시 단어 하나와 같지는 않고, 단어의 일부일 수도 있어.</a:t>
            </a:r>
          </a:p>
          <a:p xmlns:a="http://schemas.openxmlformats.org/drawingml/2006/main">
            <a:r>
              <a:t/>
            </a:r>
          </a:p>
          <a:p xmlns:a="http://schemas.openxmlformats.org/drawingml/2006/main">
            <a:r>
              <a:t>“생성기는 입력 특징을 힌트로 사용해서 다음 토큰을 순차적으로 예측합니다. 앞에서 생성한 내용을 다시 조건으로 사용하고, 종료 토큰이 나오면 최종 문장이 완성됩니다.”</a:t>
            </a:r>
          </a:p>
          <a:p xmlns:a="http://schemas.openxmlformats.org/drawingml/2006/main">
            <a:r>
              <a:t/>
            </a:r>
          </a:p>
          <a:p xmlns:a="http://schemas.openxmlformats.org/drawingml/2006/main">
            <a:r>
              <a:t>출력은 최종적으로 문장이야. 내부의 토큰 확률 벡터를 처음 입력한 특징 벡터와 혼동하지 않으면 돼.</a:t>
            </a:r>
          </a:p>
          <a:p xmlns:a="http://schemas.openxmlformats.org/drawingml/2006/main">
            <a:r>
              <a:t/>
            </a:r>
          </a:p>
          <a:p xmlns:a="http://schemas.openxmlformats.org/drawingml/2006/main">
            <a:r>
              <a:t>출처: §3.1 Prefix language modeling · §4.2</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Methods : Training과 Inference의 입력</a:t>
            </a:r>
          </a:p>
          <a:p xmlns:a="http://schemas.openxmlformats.org/drawingml/2006/main">
            <a:r>
              <a:t/>
            </a:r>
          </a:p>
          <a:p xmlns:a="http://schemas.openxmlformats.org/drawingml/2006/main">
            <a:r>
              <a:t>이 페이지는 학습할 때와 사용할 때 무엇이 달라지는지 정리하는 장이야.</a:t>
            </a:r>
          </a:p>
          <a:p xmlns:a="http://schemas.openxmlformats.org/drawingml/2006/main">
            <a:r>
              <a:t/>
            </a:r>
          </a:p>
          <a:p xmlns:a="http://schemas.openxmlformats.org/drawingml/2006/main">
            <a:r>
              <a:t>| 단계 | 생성기 입력 | 목적 |</a:t>
            </a:r>
          </a:p>
          <a:p xmlns:a="http://schemas.openxmlformats.org/drawingml/2006/main">
            <a:r>
              <a:t>|---|---|---|</a:t>
            </a:r>
          </a:p>
          <a:p xmlns:a="http://schemas.openxmlformats.org/drawingml/2006/main">
            <a:r>
              <a:t>| Training | 한 문장에서 얻은 T | 원래 문장 복원 능력 학습 |</a:t>
            </a:r>
          </a:p>
          <a:p xmlns:a="http://schemas.openxmlformats.org/drawingml/2006/main">
            <a:r>
              <a:t>| Inference | 이미지에 맞춰 T들을 섞은 Z | 새 이미지 영역의 설명 생성 |</a:t>
            </a:r>
          </a:p>
          <a:p xmlns:a="http://schemas.openxmlformats.org/drawingml/2006/main">
            <a:r>
              <a:t/>
            </a:r>
          </a:p>
          <a:p xmlns:a="http://schemas.openxmlformats.org/drawingml/2006/main">
            <a:r>
              <a:t>“학습할 때는 한 문장에서 얻은 T를 입력하고 원래 문장을 복원합니다. 실제 사용할 때는 이미지 특징과의 유사도에 따라 Memory의 T들을 가중합한 Z를 입력합니다.”</a:t>
            </a:r>
          </a:p>
          <a:p xmlns:a="http://schemas.openxmlformats.org/drawingml/2006/main">
            <a:r>
              <a:t/>
            </a:r>
          </a:p>
          <a:p xmlns:a="http://schemas.openxmlformats.org/drawingml/2006/main">
            <a:r>
              <a:t>또한 두 번의 합치기를 구분해 주면 좋아.</a:t>
            </a:r>
          </a:p>
          <a:p xmlns:a="http://schemas.openxmlformats.org/drawingml/2006/main">
            <a:r>
              <a:t/>
            </a:r>
          </a:p>
          <a:p xmlns:a="http://schemas.openxmlformats.org/drawingml/2006/main">
            <a:r>
              <a:t>- 패치 평균: 이미지 패치들을 합쳐 설명할 영역 V를 표현</a:t>
            </a:r>
          </a:p>
          <a:p xmlns:a="http://schemas.openxmlformats.org/drawingml/2006/main">
            <a:r>
              <a:t>- Memory 가중합: 텍스트 특징들을 합쳐 생성기 입력 Z를 구성</a:t>
            </a:r>
          </a:p>
          <a:p xmlns:a="http://schemas.openxmlformats.org/drawingml/2006/main">
            <a:r>
              <a:t/>
            </a:r>
          </a:p>
          <a:p xmlns:a="http://schemas.openxmlformats.org/drawingml/2006/main">
            <a:r>
              <a:t>출처: §3.1 · §4.2 · Talk2DINO + Memory</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Methods : 구성요소와 계산 결과</a:t>
            </a:r>
          </a:p>
          <a:p xmlns:a="http://schemas.openxmlformats.org/drawingml/2006/main">
            <a:r>
              <a:t/>
            </a:r>
          </a:p>
          <a:p xmlns:a="http://schemas.openxmlformats.org/drawingml/2006/main">
            <a:r>
              <a:t>이 페이지는 지금까지 나온 이름들을 모델·저장소·계산 결과로 분류하는 정리표야.</a:t>
            </a:r>
          </a:p>
          <a:p xmlns:a="http://schemas.openxmlformats.org/drawingml/2006/main">
            <a:r>
              <a:t/>
            </a:r>
          </a:p>
          <a:p xmlns:a="http://schemas.openxmlformats.org/drawingml/2006/main">
            <a:r>
              <a:t>모든 행을 똑같이 길게 읽기보다 세 묶음으로 말하면 돼.</a:t>
            </a:r>
          </a:p>
          <a:p xmlns:a="http://schemas.openxmlformats.org/drawingml/2006/main">
            <a:r>
              <a:t/>
            </a:r>
          </a:p>
          <a:p xmlns:a="http://schemas.openxmlformats.org/drawingml/2006/main">
            <a:r>
              <a:t>“앞의 DINOv2, CLIP, Talk2DINO와 Text decoder는 모델입니다. Memory는 미리 계산한 특징의 저장소입니다. V, T, 유사도, 가중치, Z는 모델이나 계산 과정에서 얻는 값입니다.”</a:t>
            </a:r>
          </a:p>
          <a:p xmlns:a="http://schemas.openxmlformats.org/drawingml/2006/main">
            <a:r>
              <a:t/>
            </a:r>
          </a:p>
          <a:p xmlns:a="http://schemas.openxmlformats.org/drawingml/2006/main">
            <a:r>
              <a:t>그리고 마지막으로:</a:t>
            </a:r>
          </a:p>
          <a:p xmlns:a="http://schemas.openxmlformats.org/drawingml/2006/main">
            <a:r>
              <a:t/>
            </a:r>
          </a:p>
          <a:p xmlns:a="http://schemas.openxmlformats.org/drawingml/2006/main">
            <a:r>
              <a:t>“이 대표 구성에서는 생성기를 텍스트로 학습하고, 실제 이미지를 설명할 때는 각 특징과 가중치를 계산합니다.”</a:t>
            </a:r>
          </a:p>
          <a:p xmlns:a="http://schemas.openxmlformats.org/drawingml/2006/main">
            <a:r>
              <a:t/>
            </a:r>
          </a:p>
          <a:p xmlns:a="http://schemas.openxmlformats.org/drawingml/2006/main">
            <a:r>
              <a:t>이 장까지 이해하면 ‘학습’과 ‘계산’을 구분하는 방법 설명은 끝난 것이야.</a:t>
            </a:r>
          </a:p>
          <a:p xmlns:a="http://schemas.openxmlformats.org/drawingml/2006/main">
            <a:r>
              <a:t/>
            </a:r>
          </a:p>
          <a:p xmlns:a="http://schemas.openxmlformats.org/drawingml/2006/main">
            <a:r>
              <a:t>출처: §3.1 · §4.2 · Talk2DINO + Memory</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Methods : Unified patch-centric framework</a:t>
            </a:r>
          </a:p>
          <a:p xmlns:a="http://schemas.openxmlformats.org/drawingml/2006/main">
            <a:r>
              <a:t/>
            </a:r>
          </a:p>
          <a:p xmlns:a="http://schemas.openxmlformats.org/drawingml/2006/main">
            <a:r>
              <a:t>이 페이지는 논문 원본 그림으로 전체 구조를 다시 확인하는 장이야.</a:t>
            </a:r>
          </a:p>
          <a:p xmlns:a="http://schemas.openxmlformats.org/drawingml/2006/main">
            <a:r>
              <a:t/>
            </a:r>
          </a:p>
          <a:p xmlns:a="http://schemas.openxmlformats.org/drawingml/2006/main">
            <a:r>
              <a:t>이제 청중은 앞에서 세부 원리를 들었으니까, 원본 그림의 각 블록이 무엇인지 이해할 수 있어.</a:t>
            </a:r>
          </a:p>
          <a:p xmlns:a="http://schemas.openxmlformats.org/drawingml/2006/main">
            <a:r>
              <a:t/>
            </a:r>
          </a:p>
          <a:p xmlns:a="http://schemas.openxmlformats.org/drawingml/2006/main">
            <a:r>
              <a:t>“앞에서 설명한 과정을 논문의 전체 그림으로 보면 다음과 같습니다. 패치 특징을 얻고, 필요한 패치를 모은 뒤, 입력 차이를 보완해서 문장을 생성합니다. 아래의 여러 과제는 선택하는 패치 집합만 달라지고 전체 구조는 공유합니다.”</a:t>
            </a:r>
          </a:p>
          <a:p xmlns:a="http://schemas.openxmlformats.org/drawingml/2006/main">
            <a:r>
              <a:t/>
            </a:r>
          </a:p>
          <a:p xmlns:a="http://schemas.openxmlformats.org/drawingml/2006/main">
            <a:r>
              <a:t>앞의 그림들과 역할 차이: 앞 장들은 원리를 풀어 설명했고, 이 장은 그 설명이 논문의 전체 구조에서 어디에 해당하는지 연결해 줘.</a:t>
            </a:r>
          </a:p>
          <a:p xmlns:a="http://schemas.openxmlformats.org/drawingml/2006/main">
            <a:r>
              <a:t/>
            </a:r>
          </a:p>
          <a:p xmlns:a="http://schemas.openxmlformats.org/drawingml/2006/main">
            <a:r>
              <a:t>출처: Figure 1 · p. 5534</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Methods : 네 가지 Captioning tasks</a:t>
            </a:r>
          </a:p>
          <a:p xmlns:a="http://schemas.openxmlformats.org/drawingml/2006/main">
            <a:r>
              <a:t/>
            </a:r>
          </a:p>
          <a:p xmlns:a="http://schemas.openxmlformats.org/drawingml/2006/main">
            <a:r>
              <a:t>이 페이지는 이제 어떤 문제를 풀게 해서 성능을 평가할 것인지 정의하는 장이야.</a:t>
            </a:r>
          </a:p>
          <a:p xmlns:a="http://schemas.openxmlformats.org/drawingml/2006/main">
            <a:r>
              <a:t/>
            </a:r>
          </a:p>
          <a:p xmlns:a="http://schemas.openxmlformats.org/drawingml/2006/main">
            <a:r>
              <a:t>- Trace: 마우스로 훑은 곳 설명</a:t>
            </a:r>
          </a:p>
          <a:p xmlns:a="http://schemas.openxmlformats.org/drawingml/2006/main">
            <a:r>
              <a:t>- Dense: 각각의 사각형 영역 설명</a:t>
            </a:r>
          </a:p>
          <a:p xmlns:a="http://schemas.openxmlformats.org/drawingml/2006/main">
            <a:r>
              <a:t>- Region-set: 여러 영역을 함께 설명</a:t>
            </a:r>
          </a:p>
          <a:p xmlns:a="http://schemas.openxmlformats.org/drawingml/2006/main">
            <a:r>
              <a:t>- Image: 전체 이미지 설명</a:t>
            </a:r>
          </a:p>
          <a:p xmlns:a="http://schemas.openxmlformats.org/drawingml/2006/main">
            <a:r>
              <a:t/>
            </a:r>
          </a:p>
          <a:p xmlns:a="http://schemas.openxmlformats.org/drawingml/2006/main">
            <a:r>
              <a:t>“이 구조를 네 가지 설명 과제에 적용했습니다. 과제마다 지정하는 영역의 형태가 달라지며, 생성해야 하는 설명의 범위도 달라집니다.”</a:t>
            </a:r>
          </a:p>
          <a:p xmlns:a="http://schemas.openxmlformats.org/drawingml/2006/main">
            <a:r>
              <a:t/>
            </a:r>
          </a:p>
          <a:p xmlns:a="http://schemas.openxmlformats.org/drawingml/2006/main">
            <a:r>
              <a:t>반드시 덧붙일 조건:</a:t>
            </a:r>
          </a:p>
          <a:p xmlns:a="http://schemas.openxmlformats.org/drawingml/2006/main">
            <a:r>
              <a:t/>
            </a:r>
          </a:p>
          <a:p xmlns:a="http://schemas.openxmlformats.org/drawingml/2006/main">
            <a:r>
              <a:t>“Dense 평가에서는 정답 박스를 입력으로 제공했으므로, 자동으로 영역을 찾는 성능까지 평가한 것은 아닙니다.”</a:t>
            </a:r>
          </a:p>
          <a:p xmlns:a="http://schemas.openxmlformats.org/drawingml/2006/main">
            <a:r>
              <a:t/>
            </a:r>
          </a:p>
          <a:p xmlns:a="http://schemas.openxmlformats.org/drawingml/2006/main">
            <a:r>
              <a:t>출처: §3.2 · §4.1</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Experiments : Evaluation datasets</a:t>
            </a:r>
          </a:p>
          <a:p xmlns:a="http://schemas.openxmlformats.org/drawingml/2006/main">
            <a:r>
              <a:t/>
            </a:r>
          </a:p>
          <a:p xmlns:a="http://schemas.openxmlformats.org/drawingml/2006/main">
            <a:r>
              <a:t>이 페이지는 앞의 네 과제를 어떤 자료로 시험했는지 설명하는 장이야.</a:t>
            </a:r>
          </a:p>
          <a:p xmlns:a="http://schemas.openxmlformats.org/drawingml/2006/main">
            <a:r>
              <a:t/>
            </a:r>
          </a:p>
          <a:p xmlns:a="http://schemas.openxmlformats.org/drawingml/2006/main">
            <a:r>
              <a:t>숫자를 전부 외워서 읽을 필요는 없어. COCO, Flickr30K, Visual Genome 같은 데이터와 그 파생 데이터로 여러 과제를 평가했다는 점이 중요해.</a:t>
            </a:r>
          </a:p>
          <a:p xmlns:a="http://schemas.openxmlformats.org/drawingml/2006/main">
            <a:r>
              <a:t/>
            </a:r>
          </a:p>
          <a:p xmlns:a="http://schemas.openxmlformats.org/drawingml/2006/main">
            <a:r>
              <a:t>Trace는 기존의 마우스 이동 기록과 사람이 말한 설명을 활용해서 평가 자료를 구성했어.</a:t>
            </a:r>
          </a:p>
          <a:p xmlns:a="http://schemas.openxmlformats.org/drawingml/2006/main">
            <a:r>
              <a:t/>
            </a:r>
          </a:p>
          <a:p xmlns:a="http://schemas.openxmlformats.org/drawingml/2006/main">
            <a:r>
              <a:t>“여러 공개 데이터셋을 사용해 과제별로 평가했습니다. 새로 제안한 Trace 과제는 마우스로 대상을 가리키면서 말한 기록을 활용하고, 이를 문장별 궤적과 설명으로 정리해 만들었습니다.”</a:t>
            </a:r>
          </a:p>
          <a:p xmlns:a="http://schemas.openxmlformats.org/drawingml/2006/main">
            <a:r>
              <a:t/>
            </a:r>
          </a:p>
          <a:p xmlns:a="http://schemas.openxmlformats.org/drawingml/2006/main">
            <a:r>
              <a:t>헷갈리지 말 것: 사진 수와 정답 문장 수는 달라. 사진 한 장에 여러 영역·궤적 설명이 있을 수 있어.</a:t>
            </a:r>
          </a:p>
          <a:p xmlns:a="http://schemas.openxmlformats.org/drawingml/2006/main">
            <a:r>
              <a:t/>
            </a:r>
          </a:p>
          <a:p xmlns:a="http://schemas.openxmlformats.org/drawingml/2006/main">
            <a:r>
              <a:t>출처: §4.1 · Table 2는 Image task의 Flickr30K 결과도 보고</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Experiments : Metrics와 비교 조건</a:t>
            </a:r>
          </a:p>
          <a:p xmlns:a="http://schemas.openxmlformats.org/drawingml/2006/main">
            <a:r>
              <a:t/>
            </a:r>
          </a:p>
          <a:p xmlns:a="http://schemas.openxmlformats.org/drawingml/2006/main">
            <a:r>
              <a:t>이 페이지는 어떤 기준으로 잘했다고 판단하는지, 누구와 비교하는지 설명하는 장이야.</a:t>
            </a:r>
          </a:p>
          <a:p xmlns:a="http://schemas.openxmlformats.org/drawingml/2006/main">
            <a:r>
              <a:t/>
            </a:r>
          </a:p>
          <a:p xmlns:a="http://schemas.openxmlformats.org/drawingml/2006/main">
            <a:r>
              <a:t>쉽게 설명할 때는:</a:t>
            </a:r>
          </a:p>
          <a:p xmlns:a="http://schemas.openxmlformats.org/drawingml/2006/main">
            <a:r>
              <a:t/>
            </a:r>
          </a:p>
          <a:p xmlns:a="http://schemas.openxmlformats.org/drawingml/2006/main">
            <a:r>
              <a:t>- CIDEr: 기준 문장과 단어·표현이 얼마나 맞는가</a:t>
            </a:r>
          </a:p>
          <a:p xmlns:a="http://schemas.openxmlformats.org/drawingml/2006/main">
            <a:r>
              <a:t>- RefPAC: 의미가 얼마나 맞는가</a:t>
            </a:r>
          </a:p>
          <a:p xmlns:a="http://schemas.openxmlformats.org/drawingml/2006/main">
            <a:r>
              <a:t>- mAP: Dense captioning 프로토콜에서의 성능</a:t>
            </a:r>
          </a:p>
          <a:p xmlns:a="http://schemas.openxmlformats.org/drawingml/2006/main">
            <a:r>
              <a:t>- CLIP-Score: 전체 이미지와 생성한 설명이 얼마나 잘 맞는가</a:t>
            </a:r>
          </a:p>
          <a:p xmlns:a="http://schemas.openxmlformats.org/drawingml/2006/main">
            <a:r>
              <a:t/>
            </a:r>
          </a:p>
          <a:p xmlns:a="http://schemas.openxmlformats.org/drawingml/2006/main">
            <a:r>
              <a:t>“생성 문장을 데이터에 있는 기준 문장과 비교하고, 표현과 의미의 일치도를 평가했습니다. 기존 전체 이미지 캡셔너뿐 아니라, 영역을 잘라 넣는 변형과 영역 정보를 활용하는 백본 조합도 비교했습니다.”</a:t>
            </a:r>
          </a:p>
          <a:p xmlns:a="http://schemas.openxmlformats.org/drawingml/2006/main">
            <a:r>
              <a:t/>
            </a:r>
          </a:p>
          <a:p xmlns:a="http://schemas.openxmlformats.org/drawingml/2006/main">
            <a:r>
              <a:t>중요: 이 점수들은 일반적인 정답률 %가 아니야. 서로 다른 지표의 숫자끼리 비교하지 말고 같은 과제·데이터·지표 안에서 비교해야 해.</a:t>
            </a:r>
          </a:p>
          <a:p xmlns:a="http://schemas.openxmlformats.org/drawingml/2006/main">
            <a:r>
              <a:t/>
            </a:r>
          </a:p>
          <a:p xmlns:a="http://schemas.openxmlformats.org/drawingml/2006/main">
            <a:r>
              <a:t>출처: §4.1 Metrics · §4.3 Comparison with SOTA</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Results : Backbone comparison</a:t>
            </a:r>
          </a:p>
          <a:p xmlns:a="http://schemas.openxmlformats.org/drawingml/2006/main">
            <a:r>
              <a:t/>
            </a:r>
          </a:p>
          <a:p xmlns:a="http://schemas.openxmlformats.org/drawingml/2006/main">
            <a:r>
              <a:t>이 페이지는 첫 번째 실험인 “어떤 특징 추출 구성이 적합한가?”의 전체 결과표야.</a:t>
            </a:r>
          </a:p>
          <a:p xmlns:a="http://schemas.openxmlformats.org/drawingml/2006/main">
            <a:r>
              <a:t/>
            </a:r>
          </a:p>
          <a:p xmlns:a="http://schemas.openxmlformats.org/drawingml/2006/main">
            <a:r>
              <a:t>여기서 비교하는 것은 완전히 다른 제품들의 최종 성능만이 아니라, 이 프레임워크 안에서 Backbone 선택에 따라 결과가 어떻게 달라지는지야.</a:t>
            </a:r>
          </a:p>
          <a:p xmlns:a="http://schemas.openxmlformats.org/drawingml/2006/main">
            <a:r>
              <a:t/>
            </a:r>
          </a:p>
          <a:p xmlns:a="http://schemas.openxmlformats.org/drawingml/2006/main">
            <a:r>
              <a:t>“먼저 공통된 Memory 기반 디코더 설정에서 여러 Backbone을 비교했습니다. 지역 설명 과제에서는 DINOv2 기반 모델들이 좋은 결과를 보였고, 특히 Talk2DINO가 높은 성능을 보여 이후 실험의 기본 구성으로 사용됐습니다.”</a:t>
            </a:r>
          </a:p>
          <a:p xmlns:a="http://schemas.openxmlformats.org/drawingml/2006/main">
            <a:r>
              <a:t/>
            </a:r>
          </a:p>
          <a:p xmlns:a="http://schemas.openxmlformats.org/drawingml/2006/main">
            <a:r>
              <a:t>주의: “동일한 디코더 설정”은 동일한 종류의 구조·방식을 사용한다는 의미로 설명해. 모든 비교가 완전히 같은 학습 가중치를 사용했다는 뜻으로 말하면 안 돼.</a:t>
            </a:r>
          </a:p>
          <a:p xmlns:a="http://schemas.openxmlformats.org/drawingml/2006/main">
            <a:r>
              <a:t/>
            </a:r>
          </a:p>
          <a:p xmlns:a="http://schemas.openxmlformats.org/drawingml/2006/main">
            <a:r>
              <a:t>출처: Table 1 · p. 5538</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Results : Local features와 Captioning 성능</a:t>
            </a:r>
          </a:p>
          <a:p xmlns:a="http://schemas.openxmlformats.org/drawingml/2006/main">
            <a:r>
              <a:t/>
            </a:r>
          </a:p>
          <a:p xmlns:a="http://schemas.openxmlformats.org/drawingml/2006/main">
            <a:r>
              <a:t>이 페이지는 앞의 큰 표에서 핵심 비교만 뽑아 해석하는 장이야.</a:t>
            </a:r>
          </a:p>
          <a:p xmlns:a="http://schemas.openxmlformats.org/drawingml/2006/main">
            <a:r>
              <a:t/>
            </a:r>
          </a:p>
          <a:p xmlns:a="http://schemas.openxmlformats.org/drawingml/2006/main">
            <a:r>
              <a:t>Trace CIDEr는 CLIP 10.9, DINO.txt 23.2, Talk2DINO 27.9야. 다른 지역 과제에서도 같은 방향의 차이를 볼 수 있어.</a:t>
            </a:r>
          </a:p>
          <a:p xmlns:a="http://schemas.openxmlformats.org/drawingml/2006/main">
            <a:r>
              <a:t/>
            </a:r>
          </a:p>
          <a:p xmlns:a="http://schemas.openxmlformats.org/drawingml/2006/main">
            <a:r>
              <a:t>“지역 과제의 CIDEr만 보면 Talk2DINO가 CLIP보다 높은 점수를 보입니다. 이는 패치를 선택하고 평균 내는 연산만으로는 충분하지 않고, 각 패치가 지역의 의미를 잘 담고 있어야 한다는 점을 뒷받침합니다.”</a:t>
            </a:r>
          </a:p>
          <a:p xmlns:a="http://schemas.openxmlformats.org/drawingml/2006/main">
            <a:r>
              <a:t/>
            </a:r>
          </a:p>
          <a:p xmlns:a="http://schemas.openxmlformats.org/drawingml/2006/main">
            <a:r>
              <a:t>발표에서 가져갈 해석:</a:t>
            </a:r>
          </a:p>
          <a:p xmlns:a="http://schemas.openxmlformats.org/drawingml/2006/main">
            <a:r>
              <a:t/>
            </a:r>
          </a:p>
          <a:p xmlns:a="http://schemas.openxmlformats.org/drawingml/2006/main">
            <a:r>
              <a:t>“무엇을 합칠지뿐 아니라, 합치기 전 특징의 품질이 중요하다.”</a:t>
            </a:r>
          </a:p>
          <a:p xmlns:a="http://schemas.openxmlformats.org/drawingml/2006/main">
            <a:r>
              <a:t/>
            </a:r>
          </a:p>
          <a:p xmlns:a="http://schemas.openxmlformats.org/drawingml/2006/main">
            <a:r>
              <a:t>다만 Backbone의 모든 사전학습 조건을 동일하게 통제한 실험은 아니므로, 특정 구조 하나만이 차이의 유일한 원인이라고 단정하지는 않아.</a:t>
            </a:r>
          </a:p>
          <a:p xmlns:a="http://schemas.openxmlformats.org/drawingml/2006/main">
            <a:r>
              <a:t/>
            </a:r>
          </a:p>
          <a:p xmlns:a="http://schemas.openxmlformats.org/drawingml/2006/main">
            <a:r>
              <a:t>출처: Table 1에서 CIDEr 값 발췌 · 해석: 발표자</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Results : Captioning methods 비교</a:t>
            </a:r>
          </a:p>
          <a:p xmlns:a="http://schemas.openxmlformats.org/drawingml/2006/main">
            <a:r>
              <a:t/>
            </a:r>
          </a:p>
          <a:p xmlns:a="http://schemas.openxmlformats.org/drawingml/2006/main">
            <a:r>
              <a:t>이 페이지는 두 번째 실험인 “완성된 방법이 기존 캡셔닝 방법보다 나은가?”를 보여줘.</a:t>
            </a:r>
          </a:p>
          <a:p xmlns:a="http://schemas.openxmlformats.org/drawingml/2006/main">
            <a:r>
              <a:t/>
            </a:r>
          </a:p>
          <a:p xmlns:a="http://schemas.openxmlformats.org/drawingml/2006/main">
            <a:r>
              <a:t>앞의 Table 1과 구분하면:</a:t>
            </a:r>
          </a:p>
          <a:p xmlns:a="http://schemas.openxmlformats.org/drawingml/2006/main">
            <a:r>
              <a:t/>
            </a:r>
          </a:p>
          <a:p xmlns:a="http://schemas.openxmlformats.org/drawingml/2006/main">
            <a:r>
              <a:t>- Table 1: 우리 구조 안에서 어떤 Backbone을 쓸지 비교</a:t>
            </a:r>
          </a:p>
          <a:p xmlns:a="http://schemas.openxmlformats.org/drawingml/2006/main">
            <a:r>
              <a:t>- Table 2: 여러 기존 방법과 제안 방법의 성능 비교</a:t>
            </a:r>
          </a:p>
          <a:p xmlns:a="http://schemas.openxmlformats.org/drawingml/2006/main">
            <a:r>
              <a:t/>
            </a:r>
          </a:p>
          <a:p xmlns:a="http://schemas.openxmlformats.org/drawingml/2006/main">
            <a:r>
              <a:t>“앞에서는 특징 추출 모델의 선택을 비교했다면, 여기서는 기존 캡셔닝 방법들과 최종 성능을 비교합니다. 표 위쪽은 기존 방법, 아래쪽은 Talk2DINO에 여러 보완 방식을 결합한 제안 구성입니다.”</a:t>
            </a:r>
          </a:p>
          <a:p xmlns:a="http://schemas.openxmlformats.org/drawingml/2006/main">
            <a:r>
              <a:t/>
            </a:r>
          </a:p>
          <a:p xmlns:a="http://schemas.openxmlformats.org/drawingml/2006/main">
            <a:r>
              <a:t>표가 크니까 모든 수치를 읽지 말고, 지역 과제와 전체 이미지 과제를 나눠 보겠다고 다음 장으로 넘어가면 돼.</a:t>
            </a:r>
          </a:p>
          <a:p xmlns:a="http://schemas.openxmlformats.org/drawingml/2006/main">
            <a:r>
              <a:t/>
            </a:r>
          </a:p>
          <a:p xmlns:a="http://schemas.openxmlformats.org/drawingml/2006/main">
            <a:r>
              <a:t>출처: Table 2 · p. 5539 · † reproduced / ⋄ crop / ♢ attention weighting</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Results : Regional captioning의 성능 개선</a:t>
            </a:r>
          </a:p>
          <a:p xmlns:a="http://schemas.openxmlformats.org/drawingml/2006/main">
            <a:r>
              <a:t/>
            </a:r>
          </a:p>
          <a:p xmlns:a="http://schemas.openxmlformats.org/drawingml/2006/main">
            <a:r>
              <a:t>이 페이지는 논문의 강점이 가장 잘 나타난 지역 설명 결과를 설명하는 장이야.</a:t>
            </a:r>
          </a:p>
          <a:p xmlns:a="http://schemas.openxmlformats.org/drawingml/2006/main">
            <a:r>
              <a:t/>
            </a:r>
          </a:p>
          <a:p xmlns:a="http://schemas.openxmlformats.org/drawingml/2006/main">
            <a:r>
              <a:t>화면의 세 행은 다음을 보여줘.</a:t>
            </a:r>
          </a:p>
          <a:p xmlns:a="http://schemas.openxmlformats.org/drawingml/2006/main">
            <a:r>
              <a:t/>
            </a:r>
          </a:p>
          <a:p xmlns:a="http://schemas.openxmlformats.org/drawingml/2006/main">
            <a:r>
              <a:t>- Trace CIDEr: 24.3 → 29.4</a:t>
            </a:r>
          </a:p>
          <a:p xmlns:a="http://schemas.openxmlformats.org/drawingml/2006/main">
            <a:r>
              <a:t>- Dense mAP: 17.75 → 21.31</a:t>
            </a:r>
          </a:p>
          <a:p xmlns:a="http://schemas.openxmlformats.org/drawingml/2006/main">
            <a:r>
              <a:t>- Region-set CIDEr: 102.7 → 114.4</a:t>
            </a:r>
          </a:p>
          <a:p xmlns:a="http://schemas.openxmlformats.org/drawingml/2006/main">
            <a:r>
              <a:t/>
            </a:r>
          </a:p>
          <a:p xmlns:a="http://schemas.openxmlformats.org/drawingml/2006/main">
            <a:r>
              <a:t>“지역 설명 과제에서는 제안 방법이 비교 모델보다 높은 점수를 보였습니다. 마우스로 지정한 영역, 개별 박스, 여러 영역의 집합을 설명하는 상황에서 패치 중심 접근의 강점이 나타났습니다.”</a:t>
            </a:r>
          </a:p>
          <a:p xmlns:a="http://schemas.openxmlformats.org/drawingml/2006/main">
            <a:r>
              <a:t/>
            </a:r>
          </a:p>
          <a:p xmlns:a="http://schemas.openxmlformats.org/drawingml/2006/main">
            <a:r>
              <a:t>꼭 함께 말할 것: 높은 점수를 낸 조합은 과제마다 달라.</a:t>
            </a:r>
          </a:p>
          <a:p xmlns:a="http://schemas.openxmlformats.org/drawingml/2006/main">
            <a:r>
              <a:t/>
            </a:r>
          </a:p>
          <a:p xmlns:a="http://schemas.openxmlformats.org/drawingml/2006/main">
            <a:r>
              <a:t>- 표시된 Dense mAP 최고 구성: Memory</a:t>
            </a:r>
          </a:p>
          <a:p xmlns:a="http://schemas.openxmlformats.org/drawingml/2006/main">
            <a:r>
              <a:t>- 표시된 Trace·Region-set CIDEr 최고 구성: Diffusion</a:t>
            </a:r>
          </a:p>
          <a:p xmlns:a="http://schemas.openxmlformats.org/drawingml/2006/main">
            <a:r>
              <a:t/>
            </a:r>
          </a:p>
          <a:p xmlns:a="http://schemas.openxmlformats.org/drawingml/2006/main">
            <a:r>
              <a:t>즉, Memory 하나가 전부 최고였다는 결과는 아니야.</a:t>
            </a:r>
          </a:p>
          <a:p xmlns:a="http://schemas.openxmlformats.org/drawingml/2006/main">
            <a:r>
              <a:t/>
            </a:r>
          </a:p>
          <a:p xmlns:a="http://schemas.openxmlformats.org/drawingml/2006/main">
            <a:r>
              <a:t>출처: Table 2 · 표시한 Task / Dataset / Metric별 비교</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Results : Whole-image captioning</a:t>
            </a:r>
          </a:p>
          <a:p xmlns:a="http://schemas.openxmlformats.org/drawingml/2006/main">
            <a:r>
              <a:t/>
            </a:r>
          </a:p>
          <a:p xmlns:a="http://schemas.openxmlformats.org/drawingml/2006/main">
            <a:r>
              <a:t>이 페이지는 전체 이미지를 설명할 때도 최고인가?를 확인하는 장이야.</a:t>
            </a:r>
          </a:p>
          <a:p xmlns:a="http://schemas.openxmlformats.org/drawingml/2006/main">
            <a:r>
              <a:t/>
            </a:r>
          </a:p>
          <a:p xmlns:a="http://schemas.openxmlformats.org/drawingml/2006/main">
            <a:r>
              <a:t>여기서는 Patch-ioner의 T2D + Diffusion이 92.8이고, MERCap이 96.0, EntroCap이 94.3이야.</a:t>
            </a:r>
          </a:p>
          <a:p xmlns:a="http://schemas.openxmlformats.org/drawingml/2006/main">
            <a:r>
              <a:t/>
            </a:r>
          </a:p>
          <a:p xmlns:a="http://schemas.openxmlformats.org/drawingml/2006/main">
            <a:r>
              <a:t>“전체 이미지 설명에서는 경쟁력 있는 성능을 유지했지만, 비교한 최고 방법을 넘어서지는 못했습니다. 따라서 이 논문의 강점은 모든 캡셔닝 성능의 일괄적인 향상보다, 원하는 영역을 설명하는 유연성과 지역 과제 성능에 있습니다.”</a:t>
            </a:r>
          </a:p>
          <a:p xmlns:a="http://schemas.openxmlformats.org/drawingml/2006/main">
            <a:r>
              <a:t/>
            </a:r>
          </a:p>
          <a:p xmlns:a="http://schemas.openxmlformats.org/drawingml/2006/main">
            <a:r>
              <a:t>또 앞의 Backbone 표와 숫자가 다를 수 있는데, 이 전체 이미지 비교에는 attention 기반 가중치가 적용된 조건이 포함돼 있어. 서로 다른 표의 수치를 같은 설정으로 단정하면 안 돼.</a:t>
            </a:r>
          </a:p>
          <a:p xmlns:a="http://schemas.openxmlformats.org/drawingml/2006/main">
            <a:r>
              <a:t/>
            </a:r>
          </a:p>
          <a:p xmlns:a="http://schemas.openxmlformats.org/drawingml/2006/main">
            <a:r>
              <a:t>출처: Table 2 · Image Captioning / COCO · 제안 구성: attention-based weighting</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Results : 선택 영역과 생성 Caption</a:t>
            </a:r>
          </a:p>
          <a:p xmlns:a="http://schemas.openxmlformats.org/drawingml/2006/main">
            <a:r>
              <a:t/>
            </a:r>
          </a:p>
          <a:p xmlns:a="http://schemas.openxmlformats.org/drawingml/2006/main">
            <a:r>
              <a:t>이 페이지는 점수 차이가 실제 문장에서는 어떻게 보이는지 보여주는 장이야.</a:t>
            </a:r>
          </a:p>
          <a:p xmlns:a="http://schemas.openxmlformats.org/drawingml/2006/main">
            <a:r>
              <a:t/>
            </a:r>
          </a:p>
          <a:p xmlns:a="http://schemas.openxmlformats.org/drawingml/2006/main">
            <a:r>
              <a:t>대표적으로 기차역의 시계를 선택한 사례를 설명하면 좋아.</a:t>
            </a:r>
          </a:p>
          <a:p xmlns:a="http://schemas.openxmlformats.org/drawingml/2006/main">
            <a:r>
              <a:t/>
            </a:r>
          </a:p>
          <a:p xmlns:a="http://schemas.openxmlformats.org/drawingml/2006/main">
            <a:r>
              <a:t>- 기존 방법: 기차나 전체 역 장면을 설명</a:t>
            </a:r>
          </a:p>
          <a:p xmlns:a="http://schemas.openxmlformats.org/drawingml/2006/main">
            <a:r>
              <a:t>- 제안 방법: 지정한 시계를 중심으로 설명</a:t>
            </a:r>
          </a:p>
          <a:p xmlns:a="http://schemas.openxmlformats.org/drawingml/2006/main">
            <a:r>
              <a:t/>
            </a:r>
          </a:p>
          <a:p xmlns:a="http://schemas.openxmlformats.org/drawingml/2006/main">
            <a:r>
              <a:t>“정성적 예시에서도 지정한 영역을 반영하는 차이가 보입니다. 기차역 사진에서 시계 영역을 선택했을 때, 제안 방법은 시계를 중심으로 설명하는 모습을 보입니다.”</a:t>
            </a:r>
          </a:p>
          <a:p xmlns:a="http://schemas.openxmlformats.org/drawingml/2006/main">
            <a:r>
              <a:t/>
            </a:r>
          </a:p>
          <a:p xmlns:a="http://schemas.openxmlformats.org/drawingml/2006/main">
            <a:r>
              <a:t>그리고 균형 있게 덧붙여:</a:t>
            </a:r>
          </a:p>
          <a:p xmlns:a="http://schemas.openxmlformats.org/drawingml/2006/main">
            <a:r>
              <a:t/>
            </a:r>
          </a:p>
          <a:p xmlns:a="http://schemas.openxmlformats.org/drawingml/2006/main">
            <a:r>
              <a:t>“다만 다른 예시에서는 영역 밖의 내용이나 잘못된 행동·위치 표현도 나타납니다. 선택 영역을 더 잘 반영하는 것과 설명이 항상 정확한 것은 구분해야 합니다.”</a:t>
            </a:r>
          </a:p>
          <a:p xmlns:a="http://schemas.openxmlformats.org/drawingml/2006/main">
            <a:r>
              <a:t/>
            </a:r>
          </a:p>
          <a:p xmlns:a="http://schemas.openxmlformats.org/drawingml/2006/main">
            <a:r>
              <a:t>출처: Figure 2 · p. 5539</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Discussion : Patch-centric 접근의 의의</a:t>
            </a:r>
          </a:p>
          <a:p xmlns:a="http://schemas.openxmlformats.org/drawingml/2006/main">
            <a:r>
              <a:t/>
            </a:r>
          </a:p>
          <a:p xmlns:a="http://schemas.openxmlformats.org/drawingml/2006/main">
            <a:r>
              <a:t>이 페이지는 그래서 이 연구가 어떤 의미가 있는지 해석하는 장이야.</a:t>
            </a:r>
          </a:p>
          <a:p xmlns:a="http://schemas.openxmlformats.org/drawingml/2006/main">
            <a:r>
              <a:t/>
            </a:r>
          </a:p>
          <a:p xmlns:a="http://schemas.openxmlformats.org/drawingml/2006/main">
            <a:r>
              <a:t>핵심은 영역 종류마다 완전히 다른 모델을 만드는 대신, 선택할 패치 집합을 바꿔 같은 구조를 재사용한다는 점이야.</a:t>
            </a:r>
          </a:p>
          <a:p xmlns:a="http://schemas.openxmlformats.org/drawingml/2006/main">
            <a:r>
              <a:t/>
            </a:r>
          </a:p>
          <a:p xmlns:a="http://schemas.openxmlformats.org/drawingml/2006/main">
            <a:r>
              <a:t>그리고 이미지 특징은 한 번 추출한 뒤 여러 영역에서 재사용할 수 있어.</a:t>
            </a:r>
          </a:p>
          <a:p xmlns:a="http://schemas.openxmlformats.org/drawingml/2006/main">
            <a:r>
              <a:t/>
            </a:r>
          </a:p>
          <a:p xmlns:a="http://schemas.openxmlformats.org/drawingml/2006/main">
            <a:r>
              <a:t>“이 방법은 설명할 영역의 형태가 달라도 패치 선택과 집계라는 공통 구조로 처리할 수 있습니다. 또 이미지 특징을 한 번 추출한 뒤 여러 영역의 설명에 재사용할 수 있어, 사용자가 설명 위치를 바꾸는 응용에 활용할 가능성이 있습니다.”</a:t>
            </a:r>
          </a:p>
          <a:p xmlns:a="http://schemas.openxmlformats.org/drawingml/2006/main">
            <a:r>
              <a:t/>
            </a:r>
          </a:p>
          <a:p xmlns:a="http://schemas.openxmlformats.org/drawingml/2006/main">
            <a:r>
              <a:t>주의: 특징을 재사용한다고 모든 계산이 없어지는 건 아니야. 영역 집계와 문장 생성은 다시 해야 하고, 실제 응답 속도도 별도로 확인해야 해.</a:t>
            </a:r>
          </a:p>
          <a:p xmlns:a="http://schemas.openxmlformats.org/drawingml/2006/main">
            <a:r>
              <a:t/>
            </a:r>
          </a:p>
          <a:p xmlns:a="http://schemas.openxmlformats.org/drawingml/2006/main">
            <a:r>
              <a:t>출처: §4.2–4.3 · §5 Conclusions</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Limitations</a:t>
            </a:r>
          </a:p>
          <a:p xmlns:a="http://schemas.openxmlformats.org/drawingml/2006/main">
            <a:r>
              <a:t/>
            </a:r>
          </a:p>
          <a:p xmlns:a="http://schemas.openxmlformats.org/drawingml/2006/main">
            <a:r>
              <a:t>이 페이지는 이 방법을 사용할 때 어디까지 믿고 어디를 추가 검증해야 하는지 설명하는 장이야.</a:t>
            </a:r>
          </a:p>
          <a:p xmlns:a="http://schemas.openxmlformats.org/drawingml/2006/main">
            <a:r>
              <a:t/>
            </a:r>
          </a:p>
          <a:p xmlns:a="http://schemas.openxmlformats.org/drawingml/2006/main">
            <a:r>
              <a:t>네 가지로 묶으면 돼.</a:t>
            </a:r>
          </a:p>
          <a:p xmlns:a="http://schemas.openxmlformats.org/drawingml/2006/main">
            <a:r>
              <a:t/>
            </a:r>
          </a:p>
          <a:p xmlns:a="http://schemas.openxmlformats.org/drawingml/2006/main">
            <a:r>
              <a:t>1. 영역 정답자료로 직접 학습한 전문 모델과의 성능 격차</a:t>
            </a:r>
          </a:p>
          <a:p xmlns:a="http://schemas.openxmlformats.org/drawingml/2006/main">
            <a:r>
              <a:t>2. 선택한 패치 밖의 맥락이 설명에 섞일 가능성</a:t>
            </a:r>
          </a:p>
          <a:p xmlns:a="http://schemas.openxmlformats.org/drawingml/2006/main">
            <a:r>
              <a:t>3. 사진에 없는 내용을 생성하는 Hallucination</a:t>
            </a:r>
          </a:p>
          <a:p xmlns:a="http://schemas.openxmlformats.org/drawingml/2006/main">
            <a:r>
              <a:t>4. 정답 박스를 제공한 평가이므로 자동 영역 탐지 성능은 미검증</a:t>
            </a:r>
          </a:p>
          <a:p xmlns:a="http://schemas.openxmlformats.org/drawingml/2006/main">
            <a:r>
              <a:t/>
            </a:r>
          </a:p>
          <a:p xmlns:a="http://schemas.openxmlformats.org/drawingml/2006/main">
            <a:r>
              <a:t>“이 방법은 영역별 직접 학습 없이 설명할 수 있다는 장점이 있지만, 완전 지도학습 모델과의 성능 차이와 환각 문제가 남아 있습니다. 또한 선택 영역의 주변 맥락을 어디까지 반영할지 제어하기 어렵고, 자동 영역 탐지까지 평가한 것은 아닙니다.”</a:t>
            </a:r>
          </a:p>
          <a:p xmlns:a="http://schemas.openxmlformats.org/drawingml/2006/main">
            <a:r>
              <a:t/>
            </a:r>
          </a:p>
          <a:p xmlns:a="http://schemas.openxmlformats.org/drawingml/2006/main">
            <a:r>
              <a:t>우리 대회와 연결하면 ‘중요 영역을 어떻게 선택하고, 생성한 설명을 어떻게 검증할지’가 추가 과제라는 뜻이야.</a:t>
            </a:r>
          </a:p>
          <a:p xmlns:a="http://schemas.openxmlformats.org/drawingml/2006/main">
            <a:r>
              <a:t/>
            </a:r>
          </a:p>
          <a:p xmlns:a="http://schemas.openxmlformats.org/drawingml/2006/main">
            <a:r>
              <a:t>출처: §5 Limitations and Future Work · §4.1 Dense evaluation</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Conclusion</a:t>
            </a:r>
          </a:p>
          <a:p xmlns:a="http://schemas.openxmlformats.org/drawingml/2006/main">
            <a:r>
              <a:t/>
            </a:r>
          </a:p>
          <a:p xmlns:a="http://schemas.openxmlformats.org/drawingml/2006/main">
            <a:r>
              <a:t>이 페이지는 논문에서 확인한 것과 우리 프로젝트에 가져갈 판단을 정리하는 마지막 장이야.</a:t>
            </a:r>
          </a:p>
          <a:p xmlns:a="http://schemas.openxmlformats.org/drawingml/2006/main">
            <a:r>
              <a:t/>
            </a:r>
          </a:p>
          <a:p xmlns:a="http://schemas.openxmlformats.org/drawingml/2006/main">
            <a:r>
              <a:t>이렇게 마무리하면 전체 발표 흐름이 처음의 대회 주제로 돌아와.</a:t>
            </a:r>
          </a:p>
          <a:p xmlns:a="http://schemas.openxmlformats.org/drawingml/2006/main">
            <a:r>
              <a:t/>
            </a:r>
          </a:p>
          <a:p xmlns:a="http://schemas.openxmlformats.org/drawingml/2006/main">
            <a:r>
              <a:t>“이 논문은 패치를 기본 단위로 사용해 다양한 영역의 캡셔닝을 하나의 구조로 통합했습니다. 이를 위해서는 지역 의미를 잘 담는 특징과 이미지·텍스트 입력 차이에 대한 보완이 중요했고, 실험에서도 지역 설명 과제의 성능 개선을 확인했습니다.”</a:t>
            </a:r>
          </a:p>
          <a:p xmlns:a="http://schemas.openxmlformats.org/drawingml/2006/main">
            <a:r>
              <a:t/>
            </a:r>
          </a:p>
          <a:p xmlns:a="http://schemas.openxmlformats.org/drawingml/2006/main">
            <a:r>
              <a:t>이어서 우리 계획으로 연결해:</a:t>
            </a:r>
          </a:p>
          <a:p xmlns:a="http://schemas.openxmlformats.org/drawingml/2006/main">
            <a:r>
              <a:t/>
            </a:r>
          </a:p>
          <a:p xmlns:a="http://schemas.openxmlformats.org/drawingml/2006/main">
            <a:r>
              <a:t>“따라서 저희는 이를 이미지의 세부 영역 설명을 확보하는 후보로 검토할 수 있습니다. 다만 OCR, 중요한 영역의 선택, 설명의 사실성은 별도로 확인해야 하므로, 실제 대회 샘플에서 정보 누락과 오류를 비교하는 과정이 필요합니다.”</a:t>
            </a:r>
          </a:p>
          <a:p xmlns:a="http://schemas.openxmlformats.org/drawingml/2006/main">
            <a:r>
              <a:t/>
            </a:r>
          </a:p>
          <a:p xmlns:a="http://schemas.openxmlformats.org/drawingml/2006/main">
            <a:r>
              <a:t>“이 논문이 대회 문제를 전부 해결한다”가 아니라, “전체 시스템 중 이미지 근거를 확보하는 한 부분으로 검토한다”는 위치를 분명히 잡으면 돼.</a:t>
            </a:r>
          </a:p>
          <a:p xmlns:a="http://schemas.openxmlformats.org/drawingml/2006/main">
            <a:r>
              <a:t/>
            </a:r>
          </a:p>
          <a:p xmlns:a="http://schemas.openxmlformats.org/drawingml/2006/main">
            <a:r>
              <a:t>출처: Bianchi et al. · CVPR 2026 · §5 Conclusions</a:t>
            </a:r>
          </a:p>
          <a:p xmlns:a="http://schemas.openxmlformats.org/drawingml/2006/main">
            <a:r>
              <a:t/>
            </a:r>
          </a:p>
          <a:p xmlns:a="http://schemas.openxmlformats.org/drawingml/2006/main">
            <a:r>
              <a:t>HTML 발표자료: https://kwon-hj402.github.io/share-pages/patchioner-review/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bf45a92e91d4ca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bcdac115b874bff" /><Relationship Type="http://schemas.openxmlformats.org/officeDocument/2006/relationships/slideLayout" Target="/ppt/slideLayouts/slideLayout1.xml" Id="R7350c5cfd5024f6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350c5cfd5024f6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9b3c227f7bc427e" /><Relationship Type="http://schemas.openxmlformats.org/officeDocument/2006/relationships/image" Target="/ppt/media/image.jpeg" Id="Raaade0ad08f8428c" /><Relationship Type="http://schemas.openxmlformats.org/officeDocument/2006/relationships/notesSlide" Target="/ppt/notesSlides/notesSlide1.xml" Id="Ra07bd023187b45d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27b05d230a94cb1" /><Relationship Type="http://schemas.openxmlformats.org/officeDocument/2006/relationships/image" Target="/ppt/media/image2.jpeg" Id="R6d26506c111b4a5a" /><Relationship Type="http://schemas.openxmlformats.org/officeDocument/2006/relationships/notesSlide" Target="/ppt/notesSlides/notesSlide2.xml" Id="Re6f72973f56f406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bf5c5e0a4734583" /><Relationship Type="http://schemas.openxmlformats.org/officeDocument/2006/relationships/image" Target="/ppt/media/image3.jpeg" Id="R941fcacd40f441e6" /><Relationship Type="http://schemas.openxmlformats.org/officeDocument/2006/relationships/notesSlide" Target="/ppt/notesSlides/notesSlide3.xml" Id="Rfa6c17220fc7422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1757cb06c8d4007" /><Relationship Type="http://schemas.openxmlformats.org/officeDocument/2006/relationships/image" Target="/ppt/media/image4.jpeg" Id="R9857b258de2d4fc4" /><Relationship Type="http://schemas.openxmlformats.org/officeDocument/2006/relationships/notesSlide" Target="/ppt/notesSlides/notesSlide4.xml" Id="R1ab46eefef524a8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eba0c4acfb24788" /><Relationship Type="http://schemas.openxmlformats.org/officeDocument/2006/relationships/image" Target="/ppt/media/image5.jpeg" Id="R0025b4428c4c4820" /><Relationship Type="http://schemas.openxmlformats.org/officeDocument/2006/relationships/notesSlide" Target="/ppt/notesSlides/notesSlide5.xml" Id="R25f181b78fcc4e3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c5fdf8081e34b93" /><Relationship Type="http://schemas.openxmlformats.org/officeDocument/2006/relationships/image" Target="/ppt/media/image6.jpeg" Id="R2dd79965683148fc" /><Relationship Type="http://schemas.openxmlformats.org/officeDocument/2006/relationships/notesSlide" Target="/ppt/notesSlides/notesSlide6.xml" Id="Rbf179358868a423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3aeeb3ca8b14af4" /><Relationship Type="http://schemas.openxmlformats.org/officeDocument/2006/relationships/image" Target="/ppt/media/image7.jpeg" Id="R6235ebbbc3824916" /><Relationship Type="http://schemas.openxmlformats.org/officeDocument/2006/relationships/notesSlide" Target="/ppt/notesSlides/notesSlide7.xml" Id="Rfcd92df17739488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1e28abb90894de2" /><Relationship Type="http://schemas.openxmlformats.org/officeDocument/2006/relationships/image" Target="/ppt/media/image8.jpeg" Id="R0fa5f64842124996" /><Relationship Type="http://schemas.openxmlformats.org/officeDocument/2006/relationships/notesSlide" Target="/ppt/notesSlides/notesSlide8.xml" Id="R41066b89615840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d413957ed764427" /><Relationship Type="http://schemas.openxmlformats.org/officeDocument/2006/relationships/image" Target="/ppt/media/image9.jpeg" Id="Re1950a9afee04732" /><Relationship Type="http://schemas.openxmlformats.org/officeDocument/2006/relationships/notesSlide" Target="/ppt/notesSlides/notesSlide9.xml" Id="Rbe7809784f244eb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5e00aef5b4c4a3c" /><Relationship Type="http://schemas.openxmlformats.org/officeDocument/2006/relationships/image" Target="/ppt/media/image10.jpeg" Id="Rb3e07752a5034792" /><Relationship Type="http://schemas.openxmlformats.org/officeDocument/2006/relationships/notesSlide" Target="/ppt/notesSlides/notesSlide10.xml" Id="R68fac95f5ff2445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84460b0746d4040" /><Relationship Type="http://schemas.openxmlformats.org/officeDocument/2006/relationships/image" Target="/ppt/media/image11.jpeg" Id="Rf58c0abf37f54ad6" /><Relationship Type="http://schemas.openxmlformats.org/officeDocument/2006/relationships/notesSlide" Target="/ppt/notesSlides/notesSlide11.xml" Id="Rc17970220e7548a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43dddb7315047cc" /><Relationship Type="http://schemas.openxmlformats.org/officeDocument/2006/relationships/image" Target="/ppt/media/image12.jpeg" Id="R174f8cedc4de471b" /><Relationship Type="http://schemas.openxmlformats.org/officeDocument/2006/relationships/notesSlide" Target="/ppt/notesSlides/notesSlide12.xml" Id="R9dea2942d57144f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f25476ef7384995" /><Relationship Type="http://schemas.openxmlformats.org/officeDocument/2006/relationships/image" Target="/ppt/media/image13.jpeg" Id="Rdd4866cb817c45f4" /><Relationship Type="http://schemas.openxmlformats.org/officeDocument/2006/relationships/notesSlide" Target="/ppt/notesSlides/notesSlide13.xml" Id="R725f751df7e14c5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f396ccf0d824b0e" /><Relationship Type="http://schemas.openxmlformats.org/officeDocument/2006/relationships/image" Target="/ppt/media/image14.jpeg" Id="Rf7a529ae8713411f" /><Relationship Type="http://schemas.openxmlformats.org/officeDocument/2006/relationships/notesSlide" Target="/ppt/notesSlides/notesSlide14.xml" Id="R72b86e7686f8435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968404992554cc9" /><Relationship Type="http://schemas.openxmlformats.org/officeDocument/2006/relationships/image" Target="/ppt/media/image15.jpeg" Id="Re5cbf1b7245b46cf" /><Relationship Type="http://schemas.openxmlformats.org/officeDocument/2006/relationships/notesSlide" Target="/ppt/notesSlides/notesSlide15.xml" Id="R41c23fccb0b94a1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954795f6b8c04266" /><Relationship Type="http://schemas.openxmlformats.org/officeDocument/2006/relationships/image" Target="/ppt/media/image16.jpeg" Id="R89628dee899b4316" /><Relationship Type="http://schemas.openxmlformats.org/officeDocument/2006/relationships/notesSlide" Target="/ppt/notesSlides/notesSlide16.xml" Id="R3ac78e271bb64fe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e2e6385770d4be5" /><Relationship Type="http://schemas.openxmlformats.org/officeDocument/2006/relationships/image" Target="/ppt/media/image17.jpeg" Id="Rb5ebad5d56384e4c" /><Relationship Type="http://schemas.openxmlformats.org/officeDocument/2006/relationships/notesSlide" Target="/ppt/notesSlides/notesSlide17.xml" Id="R393768277fd144f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bfca8def3a4d4cd3" /><Relationship Type="http://schemas.openxmlformats.org/officeDocument/2006/relationships/image" Target="/ppt/media/image18.jpeg" Id="Rdcac7f2321274b8b" /><Relationship Type="http://schemas.openxmlformats.org/officeDocument/2006/relationships/notesSlide" Target="/ppt/notesSlides/notesSlide18.xml" Id="Rfcbc145ae899413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be267bdd0ed4aaf" /><Relationship Type="http://schemas.openxmlformats.org/officeDocument/2006/relationships/image" Target="/ppt/media/image19.jpeg" Id="R4d911abfd6f04081" /><Relationship Type="http://schemas.openxmlformats.org/officeDocument/2006/relationships/notesSlide" Target="/ppt/notesSlides/notesSlide19.xml" Id="R3d2ec63e129a403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ef146411ead490c" /><Relationship Type="http://schemas.openxmlformats.org/officeDocument/2006/relationships/image" Target="/ppt/media/image20.jpeg" Id="R6fd61eca8b344fca" /><Relationship Type="http://schemas.openxmlformats.org/officeDocument/2006/relationships/notesSlide" Target="/ppt/notesSlides/notesSlide20.xml" Id="R19641d19309f4b6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4e51d51ced24c0a" /><Relationship Type="http://schemas.openxmlformats.org/officeDocument/2006/relationships/image" Target="/ppt/media/image21.jpeg" Id="R7f06905e48144331" /><Relationship Type="http://schemas.openxmlformats.org/officeDocument/2006/relationships/notesSlide" Target="/ppt/notesSlides/notesSlide21.xml" Id="R15081aba71914e7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d5638ea756a4af2" /><Relationship Type="http://schemas.openxmlformats.org/officeDocument/2006/relationships/image" Target="/ppt/media/image22.jpeg" Id="Rc665978a4cdc46d7" /><Relationship Type="http://schemas.openxmlformats.org/officeDocument/2006/relationships/notesSlide" Target="/ppt/notesSlides/notesSlide22.xml" Id="R85a5a67362064bf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ba22c8af9144711" /><Relationship Type="http://schemas.openxmlformats.org/officeDocument/2006/relationships/image" Target="/ppt/media/image23.jpeg" Id="Ra88257215f514ad7" /><Relationship Type="http://schemas.openxmlformats.org/officeDocument/2006/relationships/notesSlide" Target="/ppt/notesSlides/notesSlide23.xml" Id="R94c10928777e487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e65ddd0e3d04c16" /><Relationship Type="http://schemas.openxmlformats.org/officeDocument/2006/relationships/image" Target="/ppt/media/image24.jpeg" Id="R06b7a28db8af4ac7" /><Relationship Type="http://schemas.openxmlformats.org/officeDocument/2006/relationships/notesSlide" Target="/ppt/notesSlides/notesSlide24.xml" Id="Ra565c755838f4b9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d083abcef514608" /><Relationship Type="http://schemas.openxmlformats.org/officeDocument/2006/relationships/image" Target="/ppt/media/image25.jpeg" Id="R3316d7b72968493e" /><Relationship Type="http://schemas.openxmlformats.org/officeDocument/2006/relationships/notesSlide" Target="/ppt/notesSlides/notesSlide25.xml" Id="R09fc6d4c271d46c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78b0f74a09d4bc4" /><Relationship Type="http://schemas.openxmlformats.org/officeDocument/2006/relationships/image" Target="/ppt/media/image26.jpeg" Id="Rc8262fc6381b4f13" /><Relationship Type="http://schemas.openxmlformats.org/officeDocument/2006/relationships/notesSlide" Target="/ppt/notesSlides/notesSlide26.xml" Id="R7663e62b713440e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da4aecc33894821" /><Relationship Type="http://schemas.openxmlformats.org/officeDocument/2006/relationships/image" Target="/ppt/media/image27.jpeg" Id="Rb05fe9d2460148ba" /><Relationship Type="http://schemas.openxmlformats.org/officeDocument/2006/relationships/notesSlide" Target="/ppt/notesSlides/notesSlide27.xml" Id="Raf1d8b4a3bf9409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c4c2dde8d15940e3" /><Relationship Type="http://schemas.openxmlformats.org/officeDocument/2006/relationships/image" Target="/ppt/media/image28.jpeg" Id="R8de44e03e1b84793" /><Relationship Type="http://schemas.openxmlformats.org/officeDocument/2006/relationships/notesSlide" Target="/ppt/notesSlides/notesSlide28.xml" Id="R777cf56097d244c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9cfd55ad6e714d1e" /><Relationship Type="http://schemas.openxmlformats.org/officeDocument/2006/relationships/image" Target="/ppt/media/image29.jpeg" Id="R8a798d7ebad741bf" /><Relationship Type="http://schemas.openxmlformats.org/officeDocument/2006/relationships/notesSlide" Target="/ppt/notesSlides/notesSlide29.xml" Id="R05eeefa561d24d4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abfe97a843aa4786" /><Relationship Type="http://schemas.openxmlformats.org/officeDocument/2006/relationships/image" Target="/ppt/media/image30.jpeg" Id="R3f49166893464298" /><Relationship Type="http://schemas.openxmlformats.org/officeDocument/2006/relationships/notesSlide" Target="/ppt/notesSlides/notesSlide30.xml" Id="R606c55b48488439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d713b55de2b455c" /><Relationship Type="http://schemas.openxmlformats.org/officeDocument/2006/relationships/image" Target="/ppt/media/image31.jpeg" Id="R38ce6c7602e943a1" /><Relationship Type="http://schemas.openxmlformats.org/officeDocument/2006/relationships/notesSlide" Target="/ppt/notesSlides/notesSlide31.xml" Id="Re493e52f197643b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c19dfe67acd24193" /><Relationship Type="http://schemas.openxmlformats.org/officeDocument/2006/relationships/image" Target="/ppt/media/image32.jpeg" Id="R1a4ee36561f74a70" /><Relationship Type="http://schemas.openxmlformats.org/officeDocument/2006/relationships/notesSlide" Target="/ppt/notesSlides/notesSlide32.xml" Id="R97b76c679549486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83d33712d09942fb" /><Relationship Type="http://schemas.openxmlformats.org/officeDocument/2006/relationships/image" Target="/ppt/media/image33.jpeg" Id="R3538b5abce3d4b17" /><Relationship Type="http://schemas.openxmlformats.org/officeDocument/2006/relationships/notesSlide" Target="/ppt/notesSlides/notesSlide33.xml" Id="Rbcb049fe5572477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313214f756004f3b" /><Relationship Type="http://schemas.openxmlformats.org/officeDocument/2006/relationships/image" Target="/ppt/media/image34.jpeg" Id="R24efe0f218d94dd2" /><Relationship Type="http://schemas.openxmlformats.org/officeDocument/2006/relationships/notesSlide" Target="/ppt/notesSlides/notesSlide34.xml" Id="R377a90e435f948a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f9482e9db557487f" /><Relationship Type="http://schemas.openxmlformats.org/officeDocument/2006/relationships/image" Target="/ppt/media/image35.jpeg" Id="Ra01ad1d027cd43e0" /><Relationship Type="http://schemas.openxmlformats.org/officeDocument/2006/relationships/notesSlide" Target="/ppt/notesSlides/notesSlide35.xml" Id="R74eff1930a52450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a62d9e6fd25d4237" /><Relationship Type="http://schemas.openxmlformats.org/officeDocument/2006/relationships/image" Target="/ppt/media/image36.jpeg" Id="R19ce22f2274b420b" /><Relationship Type="http://schemas.openxmlformats.org/officeDocument/2006/relationships/notesSlide" Target="/ppt/notesSlides/notesSlide36.xml" Id="R4677f3eee71644e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e30fa544569b4141" /><Relationship Type="http://schemas.openxmlformats.org/officeDocument/2006/relationships/image" Target="/ppt/media/image37.jpeg" Id="Rb733d7428f03473b" /><Relationship Type="http://schemas.openxmlformats.org/officeDocument/2006/relationships/notesSlide" Target="/ppt/notesSlides/notesSlide37.xml" Id="R588cbc4d1f0b434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aade0ad08f8428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50838358"/>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d26506c111b4a5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0238532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41fcacd40f441e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5923454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857b258de2d4fc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3062515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025b4428c4c482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4987532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dd79965683148f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0041230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235ebbbc382491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7955189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fa5f6484212499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6317435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1950a9afee0473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9034799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3e07752a503479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76819622"/>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58c0abf37f54ad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7557684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74f8cedc4de471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2442738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d4866cb817c45f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89097019"/>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7a529ae8713411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3815739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e5cbf1b7245b46c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9163844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9628dee899b431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52606500"/>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5ebad5d56384e4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25739609"/>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cac7f2321274b8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4088230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d911abfd6f0408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18550501"/>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fd61eca8b344fc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7025531"/>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f06905e4814433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99191096"/>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665978a4cdc46d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0700850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88257215f514ad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49640289"/>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6b7a28db8af4ac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5983161"/>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316d7b72968493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3120386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8262fc6381b4f1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02640956"/>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05fe9d2460148b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95819167"/>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de44e03e1b8479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89774708"/>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a798d7ebad741b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93529752"/>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f4916689346429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66919755"/>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8ce6c7602e943a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18859920"/>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a4ee36561f74a7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75854865"/>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538b5abce3d4b1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65817244"/>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4efe0f218d94dd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4449849"/>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01ad1d027cd43e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50507727"/>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9ce22f2274b420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78013332"/>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733d7428f03473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449206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2026-09-22T23:48:28.3960000Z</dcterms:created>
  <dcterms:modified xsi:type="dcterms:W3CDTF">2026-09-22T23:48:28.3960000Z</dcterms:modified>
</coreProperties>
</file>